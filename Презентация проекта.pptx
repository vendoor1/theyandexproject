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27" r:id="rId2"/>
    <p:sldMasterId id="2147483739" r:id="rId3"/>
  </p:sldMasterIdLst>
  <p:notesMasterIdLst>
    <p:notesMasterId r:id="rId25"/>
  </p:notesMasterIdLst>
  <p:sldIdLst>
    <p:sldId id="325" r:id="rId4"/>
    <p:sldId id="344" r:id="rId5"/>
    <p:sldId id="341" r:id="rId6"/>
    <p:sldId id="342" r:id="rId7"/>
    <p:sldId id="259" r:id="rId8"/>
    <p:sldId id="306" r:id="rId9"/>
    <p:sldId id="343" r:id="rId10"/>
    <p:sldId id="262" r:id="rId11"/>
    <p:sldId id="267" r:id="rId12"/>
    <p:sldId id="268" r:id="rId13"/>
    <p:sldId id="260" r:id="rId14"/>
    <p:sldId id="326" r:id="rId15"/>
    <p:sldId id="334" r:id="rId16"/>
    <p:sldId id="328" r:id="rId17"/>
    <p:sldId id="335" r:id="rId18"/>
    <p:sldId id="336" r:id="rId19"/>
    <p:sldId id="337" r:id="rId20"/>
    <p:sldId id="338" r:id="rId21"/>
    <p:sldId id="340" r:id="rId22"/>
    <p:sldId id="313" r:id="rId23"/>
    <p:sldId id="333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1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D48D4-C6B2-4673-813F-3BC3BC56688E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42C41-7DB3-424E-8753-0F3A6A4933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50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295D8B2-9056-5F99-524B-992D6B71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01914"/>
            <a:ext cx="7478990" cy="1209886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2FF3FC0-4D75-161D-C48F-E663E849A4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08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E211A-2B25-73F9-8610-7F479B5C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1AC5D-4652-E05B-977E-27B58CD8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C35B749-8DE8-ADCB-2F86-C87BF3917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27093" y="703251"/>
            <a:ext cx="2338939" cy="5687058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030EDAE8-F31E-51B4-86B8-F173F8DAA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25640" y="113030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D79DEA20-1D89-DBC1-6D1C-7E4145FFF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906897" y="598075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27774AB-5184-F8DC-EBAD-8B9668923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327093" y="598075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350B783-78C6-EE38-DA71-7E78047B5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5836" y="7032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A7970F0-3A4F-145C-49D5-4CE5EE447C6C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9013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4983704-B583-1052-563A-B53363B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4540250"/>
            <a:ext cx="7833895" cy="86995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4DABCCA-E2E8-7FB3-9E94-2D5CBC433A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0" y="5731072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60C90-A64D-EA57-C250-7F6B5C62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744C9-267E-88FA-6A9B-D9965A1C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68B97-7F5A-074A-AA5F-405C1C9A90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92430EE9-AA9B-55F5-E9EB-2477BBEC5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86" y="1352403"/>
            <a:ext cx="2338939" cy="415319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7710BA9-6D74-7E0A-A6C5-03915DAC3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5333" y="177237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71C9C084-8011-DA6C-04F3-93DAB6DE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751830" y="462244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C3458FEB-30A1-907F-9C24-4DB1C688A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172026" y="462244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A4B7D57A-D0D1-0C35-57C7-0CBB2D3D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5529" y="1352403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94974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36AD52-10AA-8FF2-9DBD-006BB4149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068762"/>
            <a:ext cx="7620000" cy="94773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9CFCA-5141-8256-021F-92BB3135FF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37125" y="5676900"/>
            <a:ext cx="2317750" cy="2667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B9120-E38E-CE16-47F0-8F3DC507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04969-9E31-5ADB-27D8-169E092A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9EEE4-FE5A-9A5A-EB28-51E4823454B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78DD2050-C149-DC86-FA33-E6400182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C1A9F0B7-7647-0A46-600F-093B3C386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B7E9B1FA-8FCD-502C-664D-87E4130B7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C0313B8D-267E-4E67-9BB2-73FFF5738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888592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 descr="A person in a yellow sweater is writing with a blue pen at a desk, with colorful sticky notes and a calendar on the wall behind.">
            <a:extLst>
              <a:ext uri="{FF2B5EF4-FFF2-40B4-BE49-F238E27FC236}">
                <a16:creationId xmlns:a16="http://schemas.microsoft.com/office/drawing/2014/main" id="{04CD25B5-7E35-A0A0-4AAE-9BE1A85EE2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9625"/>
            <a:ext cx="1219200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838150"/>
            <a:ext cx="11149965" cy="78638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DAD88DE-3BF6-67A2-120C-857D25673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59" y="5702288"/>
            <a:ext cx="8624129" cy="42705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6201C7-6FBA-D43A-E82E-228F01096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9341" y="5702288"/>
            <a:ext cx="2396383" cy="427050"/>
          </a:xfrm>
        </p:spPr>
        <p:txBody>
          <a:bodyPr lIns="0" tIns="0" rIns="0" bIns="0" anchor="ctr"/>
          <a:lstStyle>
            <a:lvl1pPr marL="0" indent="0" algn="l">
              <a:buFontTx/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8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8441-CA48-25FF-5FE1-39F3C36F71D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485ED-11CB-C644-3DC0-F0E848C79E7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DA443-8077-37E3-F841-2049B5CDE319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45756D65-7C24-CF09-54A3-91DC74A6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413532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9637255-2E56-FC74-9109-A3BC8AEE0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37255" y="413532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86B62C6B-94C9-CB1E-C499-3150C5B45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17059" y="3708277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708014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29554"/>
            <a:ext cx="5434584" cy="347523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 descr="A desk with a calculator, documents, a smartphone, and a pen holder.">
            <a:extLst>
              <a:ext uri="{FF2B5EF4-FFF2-40B4-BE49-F238E27FC236}">
                <a16:creationId xmlns:a16="http://schemas.microsoft.com/office/drawing/2014/main" id="{ABFA94BE-E127-8C23-A23C-2E91D1FDB5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 flipH="1">
            <a:off x="860889" y="1399070"/>
            <a:ext cx="4648035" cy="4648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4238" y="4731335"/>
            <a:ext cx="5240899" cy="1184585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C497256-245E-EC2A-B917-DEDA61B3F8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34238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EEF3AA-A630-9D65-D67D-432EA12FE2C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B0AD288-50C0-FC9F-DFF2-F33E76C91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0012F6B-7CD7-7D6F-0D9F-2BF6EC538CD2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0C2D5054-A5B7-56F1-E3F8-365E2EC80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2278804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942476-48A2-D607-B84B-FD88A7D36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29708" y="2719093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679531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354136"/>
            <a:ext cx="6045200" cy="311626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58EC3A8-5CCE-85FA-B884-EEEE2151C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4540249"/>
            <a:ext cx="6042025" cy="1363927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D62EC8-93A3-40EF-101F-50FBD2D5AD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0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5" name="Picture Placeholder 6" descr="A desk with a calculator, documents, a smartphone, and a pen holder.">
            <a:extLst>
              <a:ext uri="{FF2B5EF4-FFF2-40B4-BE49-F238E27FC236}">
                <a16:creationId xmlns:a16="http://schemas.microsoft.com/office/drawing/2014/main" id="{A4C2926A-B086-77E7-6749-96E15205D1B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800956" y="1509621"/>
            <a:ext cx="4535049" cy="45350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0C734-CA33-6E49-8DC7-58412A53CE9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AF6CF-C42D-7D83-ED28-050993A06F5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73787-AD5F-AE86-8867-8BABB73AD9C7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E59924-35CD-287B-17A2-484E741FB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2278804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CB918F-9B11-F269-BA0F-2847E01A7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47140" y="2719093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654167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5735344" y="469430"/>
            <a:ext cx="6032576" cy="43936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43790D7-8F49-6362-2C15-0D2A18396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344" y="4923140"/>
            <a:ext cx="6045200" cy="90466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15" name="Picture Placeholder 14" descr="A desk with a calculator, documents, a smartphone, and a pen holder.">
            <a:extLst>
              <a:ext uri="{FF2B5EF4-FFF2-40B4-BE49-F238E27FC236}">
                <a16:creationId xmlns:a16="http://schemas.microsoft.com/office/drawing/2014/main" id="{A6C00183-3017-A379-A605-4279744E29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52020" y="872259"/>
            <a:ext cx="4496227" cy="49555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8DA9E6-714B-8B49-FC71-2A3686BA5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0" y="421938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4DACD4B-FDF2-BE97-FE71-B6B203433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29709" y="433710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2B5D3330-70C1-37CF-8D22-BAF459AD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8256" y="433710"/>
            <a:ext cx="440975" cy="43855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660652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656600" y="478859"/>
            <a:ext cx="5780382" cy="43936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4A035C-5A23-A717-776A-3A8312AAE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4940300"/>
            <a:ext cx="5776582" cy="1017588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4" descr="A desk with a calculator, documents, a smartphone, and a pen holder.">
            <a:extLst>
              <a:ext uri="{FF2B5EF4-FFF2-40B4-BE49-F238E27FC236}">
                <a16:creationId xmlns:a16="http://schemas.microsoft.com/office/drawing/2014/main" id="{7941C6F0-1082-A975-460C-150A11F578A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 flipH="1">
            <a:off x="6632810" y="858935"/>
            <a:ext cx="4737811" cy="496853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4FBD0B6-3F8E-9BE9-5706-64F2B4624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91" y="421938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AF9602F-7F10-CD5B-8E33-183ECE8F5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847140" y="433710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19D0C73D-F93A-5A6B-5C89-EC8FC5CA9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852769" y="433710"/>
            <a:ext cx="440975" cy="43855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7306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3686476" y="2077397"/>
            <a:ext cx="7168298" cy="20313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9D347E0-792A-5E80-87D0-12F035F27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6474" y="4237195"/>
            <a:ext cx="7168299" cy="1017588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3BD3B82-4EEE-63B8-0322-AD8AD67EE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2310063" cy="6858000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6BC6B37B-E720-B522-1D01-8ED48EF9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0196" y="42643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2B5D3330-70C1-37CF-8D22-BAF459AD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F1805FA6-8298-F291-CE24-576994C4B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10062" y="64309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26625098-E177-27B9-FFD9-614B8B574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89866" y="64309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69252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23" y="1231969"/>
            <a:ext cx="3200827" cy="471163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8B0F28F-0C6C-C34B-89FA-14F172472B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2023" y="1671090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40AE24D-CA4C-6015-CE13-8F5F9A3F807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547" y="1677447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FF2249B5-E3EF-2A61-DA34-6F638565C4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22023" y="2424339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7FB7B6-1333-FBCB-1F39-EFF7587DB75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461547" y="2430696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AE0F2F7-60FC-481B-75C8-43B1393874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22023" y="3171231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D3DA225-1218-80C3-2B80-287832B27A8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480598" y="3177588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3B492BAE-C9D1-4D61-4697-76847AB5785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22023" y="3931308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DE5D6F0-65E5-A0F7-C7F2-45363510923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480598" y="3937665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370CE8B-96AD-BF95-4CDC-EC8FB535A0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2023" y="4692553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FC95A06-731A-62D0-CFDA-7D84D69DCFC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461546" y="4698910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2BC545E-C050-7044-0FAE-450365158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0263A07-4780-099C-AAEB-E705934ECC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9109AE7-CBA2-795C-05B3-A830D267799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6E9E6CBF-EE80-8615-4945-008D73DD0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2413762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F871899F-7393-04EB-4674-884247701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3150078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FAB95E92-379E-B22D-D07C-62BB874E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3895592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">
            <a:extLst>
              <a:ext uri="{FF2B5EF4-FFF2-40B4-BE49-F238E27FC236}">
                <a16:creationId xmlns:a16="http://schemas.microsoft.com/office/drawing/2014/main" id="{16EA8662-B4F9-3505-F72F-B02B538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4659839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">
            <a:extLst>
              <a:ext uri="{FF2B5EF4-FFF2-40B4-BE49-F238E27FC236}">
                <a16:creationId xmlns:a16="http://schemas.microsoft.com/office/drawing/2014/main" id="{FFE9B368-D527-01EB-F0D1-C30D8E6D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9FE232FF-D2BE-4E0E-DA3B-FD396BC3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329111F0-F918-BC57-289A-D24923BD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93E98BD-67D0-8DD3-774C-EAEDE611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40777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23" y="1231969"/>
            <a:ext cx="3200827" cy="471163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F92CF81-475B-E11D-832D-0072BAC9D8A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7675" y="1231969"/>
            <a:ext cx="7025387" cy="471163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2BC545E-C050-7044-0FAE-450365158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0263A07-4780-099C-AAEB-E705934ECC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9109AE7-CBA2-795C-05B3-A830D267799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FFE9B368-D527-01EB-F0D1-C30D8E6D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9FE232FF-D2BE-4E0E-DA3B-FD396BC3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329111F0-F918-BC57-289A-D24923BD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93E98BD-67D0-8DD3-774C-EAEDE611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8572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9B066B4-ACB0-28F0-C3B6-67C63A589E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1" y="1485900"/>
            <a:ext cx="10504000" cy="44577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80879DF8-9526-92CF-8230-C70EF354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07FD68B-1AD6-101F-D3DE-DAF3C92C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1AC2A36-7979-BA48-54B9-95E1A6C4051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5ABBDD1E-8CA9-5C8B-14F1-96A2532D5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9DB0A1A7-C301-36DF-8F7A-18719CBF0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A355DAF5-28E4-5925-6DA3-38CCBA1F4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11D44271-EF1F-8303-4243-8A72DF6D0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038600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49B89C60-EF19-F6F1-7257-C0BC3472E62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3375" y="190500"/>
            <a:ext cx="11525250" cy="59388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5C6FA2-90C7-08DA-BDF0-89E45ACA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BBD8900-DDD8-D599-6C12-EA7E0804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585E52-E701-4675-88B0-9E59E89AD1C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328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5D99071-8469-2F9D-85C7-75498231710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1" y="1876425"/>
            <a:ext cx="10504000" cy="406717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5433F8CD-8B1C-F759-42F9-3B3374AA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B3DFB43-803E-641F-E9EF-8CD3098D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D39A52-5EC5-CA59-5294-453476F7F8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0E0B388F-0FE0-B6D7-F2BC-FC99409AC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51DEDEB4-48CF-C1E9-4407-F0CABC147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891DE7FF-C57C-1CD5-FF97-087CC77A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F6627F8D-557C-C989-6B73-4EC3FE6F5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59286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56A1C0D-8354-4EBB-BAC5-55B8932C331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7375" y="2385975"/>
            <a:ext cx="5680626" cy="245479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CB2F7E1-9F23-D397-D992-8D69FD51E1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A2385B-8506-2D5D-F07B-2E09284ADD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368BEC8-7387-5B4D-7CCA-4C8B0CE3337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95E810B7-3620-D906-C0C4-97BC02CE6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F1124C05-E6B0-DDED-8F57-17508F5D8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AC47281E-14E9-4F7A-156F-6A77FE744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AFCD36A2-457D-5843-DE05-EAE43B17D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404969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513B916-63AB-A388-7882-766F60A6E4B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00649" y="2258568"/>
            <a:ext cx="6147351" cy="355701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2DB2-1C39-84E4-0FE0-A2F296AF50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DD7F3D-2965-DB48-7373-4FBBF68B0A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1BDB344-D893-6274-41D1-D5E6DA9282D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0682207-BEA6-1CC7-B6FF-820FE21D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90806" y="0"/>
            <a:ext cx="401193" cy="39773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001EA4F1-77C1-276D-08ED-B686A2670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92033" y="397734"/>
            <a:ext cx="399377" cy="40026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4B00C23-DE19-2EC5-068B-4FBE8A2E4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92050" y="0"/>
            <a:ext cx="401193" cy="39773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67A03CBB-1F42-A2CB-AE12-A7B11C168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90806" y="797994"/>
            <a:ext cx="399377" cy="40026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104269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E45B5BB-1826-D3AB-22C7-5A160F6D107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19699" y="1109587"/>
            <a:ext cx="6128301" cy="463882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3427F-794A-5F66-49D6-54CFCA2913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8473E-336E-B13F-2690-DA45206C89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B3D79-D6C0-B872-9C9F-86900C2B6083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FF662FE3-8DEC-6672-AB7C-3EB25539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2" y="0"/>
            <a:ext cx="431229" cy="4275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4FE3D795-418D-1CFF-7D7B-61B867947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30578" y="427511"/>
            <a:ext cx="429278" cy="430227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49AF0560-4C26-5021-7336-24E0BBFD9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8556" y="0"/>
            <a:ext cx="431229" cy="4275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310526FF-AF06-7908-5126-67880AE66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50" y="857739"/>
            <a:ext cx="429278" cy="430227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604725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22D5403-D428-6D60-B735-641C0CE3ACA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219699" y="877457"/>
            <a:ext cx="6128301" cy="49406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9FE67-9C10-4AC5-7AE5-D720C34F5C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F1751D-4268-7C4C-9272-15243170DB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12790-A345-6FB8-B114-DFC78AB292F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01788450-E182-A40F-B153-45B57049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A46BB82-91CD-56DD-D57B-19FC1EE1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708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CC7238A-D2BC-B9DF-D479-D4DBB26BD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7472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F064613E-7729-DDB1-C84F-F320364DC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334527" y="0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A432B79C-CB19-6360-5BA9-72FBDF13C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762291" y="42271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04082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9B5BB62-1676-802D-28CA-B06F5C2C94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19625" y="831918"/>
            <a:ext cx="6728375" cy="5171363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B616CCD-D701-115B-BB1B-C182994067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F643B98-6E2D-806D-A578-B5CF198C6A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B716E9F-8D35-9090-39B7-A4E34B7FF90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997D301-30B0-BF10-46FB-ADBABF36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3196826-9F2A-FE50-5F19-F64F9F72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33EA388E-880F-C7E5-E2E5-D90A7662F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F63E94EF-2901-1535-5D14-9F1233BF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145745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669" y="1028700"/>
            <a:ext cx="5783531" cy="25641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884089"/>
            <a:ext cx="3710549" cy="36179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CEA338A-52D9-0816-CAB3-FE7C85C1B6E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87669" y="3724275"/>
            <a:ext cx="5783531" cy="209384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04FCEBF4-A201-29D0-0511-FF3BAD4589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CEC21B3-BB52-2743-D2A3-D05704BF48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2DFE063-623F-4A4C-D225-E3BC57C2D65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0761C03-82B7-8061-6D98-03110525E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AC4381C4-E2B3-2C2D-6058-129ADD63D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5FBDCDFF-CE22-1BF5-A139-19CBC1B86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31D80EB8-1E31-D433-19FB-D564A1A4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288100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828" y="1467469"/>
            <a:ext cx="5976078" cy="1741243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FE79FA3-EB7B-08A9-30C4-84F82ED3EB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64829" y="3428999"/>
            <a:ext cx="5976077" cy="238911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CEF7B94-8DF5-CD59-61D5-3089382676E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4CF5E1F-98F4-D429-818E-9D44CFA3E3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22A3235-521E-4C45-CDC3-6698C38657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5336" y="1467469"/>
            <a:ext cx="2659081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AEB61E72-1084-D791-0662-FC100A43B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C1C729B3-1B41-5507-CBAC-58E69275C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DD336441-2E54-E218-F16A-B0ECE84A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5884BEB0-5C9E-8AE1-4760-285A440E1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241606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9720A26-C873-5C29-E72D-90F3B1CB32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90001" y="1895475"/>
            <a:ext cx="6845169" cy="392264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8505280F-C00B-D852-D936-3C62B327FA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649DE42-A034-6938-4645-DADFDF1A59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3716C51-B5CA-9A24-279D-F2F076975B91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F3807AB-A960-C1FA-B9B5-5323E912F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D00BC8B3-50EE-3DC1-51C9-B5585196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011860CD-6625-E573-D0AB-DD780DDB0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15E657D-9708-6AD2-41B6-BCE5D3F9A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81854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90" y="1320799"/>
            <a:ext cx="4030964" cy="242570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A31E21B6-315E-0EE4-C02E-A0648CAB5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90891" y="3914775"/>
            <a:ext cx="4030963" cy="180229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6543" y="1320799"/>
            <a:ext cx="5030611" cy="439627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8964B-53EF-958B-94E5-11C4DD04DA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77FF109-7F0F-4A2E-9FA3-C6EABE92F2D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9D5FAC-A9EF-AE3D-A67A-DB8A3E688775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6530E643-5E7C-7FB1-4446-DF0D50DAB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33D1D9F1-47C9-B6B1-B30A-198D9FE76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708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874182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D72E3C85-5B78-070D-0E85-F61C36C6DE2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85613" y="2505074"/>
            <a:ext cx="4349557" cy="34982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81AE97C-0D8A-97CD-143B-4E873DF8D45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6DCA34A-BD0C-B4B3-3A81-BC2314E693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D8F7D4F-C51A-2B0B-3320-9FFF5DEF75C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913B7FA-DF66-9A42-9196-7AD2A8E70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AFF422F5-A586-964B-51D9-B6E8BCE80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5D2898C3-C59B-1BEB-28CF-DD2150F0E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900C280-B9AD-55EC-A2F2-5BF549615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7174042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70DBB60-4744-4506-B04A-029A56CA36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63" y="2505074"/>
            <a:ext cx="4349557" cy="34982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B3F20AB-D164-609C-9D26-6BE8679C14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E316387-4B77-3018-C8D4-20B9C9A4F7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C9441A4-CAF7-5B2A-2ADE-FC2E4365252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5ED2DB15-A178-88C7-5262-D5BF96969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761A9A58-8325-8CF2-D7A3-B44FA3E2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F55789C7-6AFB-B4A6-ADA1-CA1E7D5BD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BF7BEB2F-49A2-5201-C771-B110DEB1D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0349769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B8BE4E3-0A8E-B7FF-17E3-5F829F6F7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25065" y="1962150"/>
            <a:ext cx="4510106" cy="404113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0BE74478-B59C-F28B-B6EC-90D5793F31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5A0F753-A2C8-3093-4545-3E25F7C420C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C5C86C9-7977-210C-FF76-5D76368777C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5FC2361-0921-A5EE-A48C-3AE54D6F1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FFDD853F-6E3C-53A6-7449-4BF464A4C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B35B4EF-EFBB-90E4-C362-B0E484C4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12EA2A9A-71AC-7D92-AA4D-2E791ED6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411829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C1E2C21-EE4B-2C8B-7CB9-35AD1DFBB81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3491" y="1971674"/>
            <a:ext cx="4571999" cy="40316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D8EF016-30D8-AA3C-015A-9589348E6E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A0C6602-1676-63D6-1D45-CB08F670860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B99027E-21B7-3B09-FAEC-51F2F6D9436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DE6F2C8-E586-9C4B-CC6E-8B149A29B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2C0B3833-ED9E-3D8F-8DE7-0EF738885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C0B80A75-F7DC-AECC-C696-A3DCFAD3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24644226-D2C8-98C1-9FFC-9F9CEDB3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8214528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68866772-5D8C-7D5B-603A-E01C3829C2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946432" y="2524125"/>
            <a:ext cx="3388738" cy="3479156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0856071-9E72-6DF2-24DA-6DDD1D7907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681BCF4-A353-2281-3C52-1E845F1D2C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5B11221-490C-0DC9-8606-B7DFB7A2F599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8744F2A-4738-CC83-ECD1-CF75C356A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4623F3AC-8D7A-9C6C-3513-8FF1E16B4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A13E313C-E903-EF50-5599-0068431AE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D438454-D855-FBEA-6F68-E21B6174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66443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E80394F-C876-E714-3A69-F59CC531005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6823" y="2495550"/>
            <a:ext cx="3388745" cy="350773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C25AF93-C1B3-16E8-C0D6-0020B156A6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9154FF2-CCF0-894A-78AD-CCE657F16A7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C4A122A-B87C-0622-0330-09EB9AC986A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1C31CA3-9481-9C28-BA6D-C5B25DFD6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E8DEDD24-7A3F-101A-D9B9-BC14A253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CDC830B8-4070-6414-56D5-754C22B5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48221A83-6D02-160E-DC65-A7888C470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7217466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345FCE3-693B-9463-54D7-0D1001E377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73454" y="3009900"/>
            <a:ext cx="3273552" cy="299338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6D3ACBF-734F-AE25-9603-59B9EBFEC36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6ACF095-08CC-B967-EAF6-461C7D6FA7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87C7E7D-1817-9262-B005-EB5E3734C1C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BF1DE08-0842-0E3E-8231-68FD0BB71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2C58A66E-429E-1DA0-6F92-1617CE0BB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71DA3FA5-CE31-5A8A-E3BB-7F74B5338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696DE3F-0564-CCBB-8009-781ACB372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2603478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4EA3A98-C5E3-B2CD-9EFA-62B317B0BCF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38800" y="4509559"/>
            <a:ext cx="5696373" cy="151652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58A34-E3F0-8B8A-BCFB-8358498FC20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0300A-4E7A-2EDB-59D2-1CB0DA1006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06D6A-CC2F-C84A-C8E6-8CE8C62B619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CA0D19C-970E-A781-D287-30B0BFD98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5B2C7366-AEAB-C81B-8135-B3607F496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AE621B01-C155-8ABE-4692-F3D9CBECB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5795045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92DBEFC-CE96-296C-F6BD-DA8A229B49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971926" y="3785800"/>
            <a:ext cx="7363248" cy="224028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FBC6B-537B-DB90-4A5A-5A8D081296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0822BA-F7DF-D952-F905-8B49D67C88C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F0DC4AA-2D43-DFEB-33A4-3DB62C2B2AF0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7C675A4C-482A-AB12-4B1E-BD0B580F4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11FC9B7C-6843-C1E4-D432-4CADCA89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58AA8C0-7CA2-E4C7-E229-75A563253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499380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B250CB0-816D-4BD3-B674-5CF861DACCD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0026" y="824389"/>
            <a:ext cx="7337974" cy="224780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215D636A-1DE5-272B-114F-84F7EF0D97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6768F1E-5D7B-152B-B6A1-4925F25D34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2C08477-322B-6E2E-FD4D-5289E084598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5C381C5-01BE-F8A2-36AD-180115739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36B65BB7-D378-0ECA-A109-4CC2BB36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FEB09A4-E771-AF7D-C489-A1F87985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498F6B0F-FE97-F1CA-4FE0-F8CDBBBCA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534927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8F81365-87E5-251B-1BCF-ABF6619D4CB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219950" y="2081048"/>
            <a:ext cx="4158013" cy="3945033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AF5F04F-3552-0155-4200-E7A1C4EFAB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AB6C59A-71D8-22D7-CE98-1DDAF46D2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B553B0B-2158-2C4D-C27C-A2D2B55F9A7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2655BF5-7AA7-4039-DC01-2AEA1413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70227A5-2556-848F-9137-2A55DE728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DD5B85F0-622A-57B2-715A-66B3AF0AA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2C03148-53E0-2169-1532-E2E4B419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874798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18A94AB-7FF2-4DBC-2B05-B19E76917E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38800" y="852884"/>
            <a:ext cx="5696373" cy="517319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1C7FBB2-8AD5-E6A9-791C-CE7DA966EC6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4309A19-5C82-3309-2A28-547A4E7EAE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D373E6-1C6D-8642-5490-D3B1F9F41D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73A0C8E-77D0-D5C8-307B-938157217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853E42F0-47C8-3EB7-1F19-F750A4801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E2F9F7F0-85E0-B87D-444C-C2361D332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9F9E29C1-F3F8-A591-16E9-2B7A137D4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4321925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657603" cy="149570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FA52BEC-7ABC-50F9-535E-F0C3BE9893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57726" y="831919"/>
            <a:ext cx="6677448" cy="5152355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123173-E773-532C-8CA5-400A681543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CE1EE5A-6450-C886-E63C-4D2E9F5F0F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D1CC321-2957-0400-79AD-699C25EDFF9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653F13E-2E6C-4DEC-51C1-AC1142651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5FF15E2-F953-F376-A1FD-4F85C5A9A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E9E4F101-61A5-5CE5-F69B-1EBC00B9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5CBF912-5007-F0D7-FEDB-0AAACC658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2816482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7566C-1DB3-3053-2D65-3353F53A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67142C-CD26-C72B-6EA2-E6A713FE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F084B0-A6AE-6292-8F5C-7E786E2330DC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727DF714-C121-7D10-E524-F558DCE2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EF42BA3-468C-2222-DED4-2658FD4EC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344784D-4A93-9D44-F60E-ECA2165A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969241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B175625-28E2-7846-AD8B-E2BBAFA3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E075ED2-332A-D37B-CD4C-EA172485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00DC182-9551-1CCF-EA40-A9AF8871196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651EF77C-884C-E95D-2E87-346463DC0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B00D3FB-6E6F-D7BB-BA5C-536657B29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155AE513-87FB-0260-2E5B-F2B0C90A8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FA5F7C82-7362-042D-3AB6-62465CF3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84523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48517417-50F3-3145-756F-4329495F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201B9B22-62B7-A5FB-8C81-A533C121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4932EF6-F6A7-A4CA-3842-3D63A1E830D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16461C7F-0799-5184-39D8-D6CF9CB69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Freeform 16">
            <a:extLst>
              <a:ext uri="{FF2B5EF4-FFF2-40B4-BE49-F238E27FC236}">
                <a16:creationId xmlns:a16="http://schemas.microsoft.com/office/drawing/2014/main" id="{1AB745B1-1B39-DCB5-CAC0-E02861EC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E58E144-4CEE-6B86-8095-3B46EB993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297A7982-7C87-B89D-0F9A-1D024915B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19892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864E89-BB6D-F63B-20D5-0E9DEC6622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025B81-7CF7-78BA-1674-18CF4DE476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23D931-6346-BB46-A603-5C7481EFE45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6733AE5-0D5D-A6C7-9D11-033BA4AB8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09A476-4267-6CB4-13B1-8D2102BB5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343934B-DBB1-E411-29F1-D4F47D1C4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96F8A92-525B-C0D8-CE7E-E6EEF7AA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7049558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A605F54-6987-5B06-7D18-385EEFEEE5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095E3AF-7096-6917-C862-1471009732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B9F0A5-060E-CE98-CA0A-2FFDD32FB84B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63448F8-6FFE-99E6-1EC9-6E8BC4C9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C888063-E967-0D50-92DE-2034B012A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A7E5103-84AB-E8CD-5150-A57DE1BA1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483C990-24B0-5FD0-A784-8BCF7C3A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05272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29043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39A2652-0965-F6B5-998E-C6EC1B9B6A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9A8381-0C69-883F-03D9-9538D02E4A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EA39D9-C31E-649F-A5D9-FC2D4FBB0D4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63508BFF-967B-7F9C-3CCA-964277E91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1E38BD0-21B6-FA26-3444-7A989E773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929281-B727-BC89-C33C-8528BE54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CBD4466-8AC5-BD1F-02CF-6D2B94267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5295011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E0A9585-A565-1E09-F363-A3DEA1CD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84C34B2-083C-67DC-0E99-BBF28970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783C94B-157D-363E-D14B-8143686ED985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D366AB2-A7F4-A00A-3A7B-7396211E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9FCA9424-B180-2655-AFED-3266DF551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6B0844FC-89AA-45F7-A714-E64A76774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0595B788-868A-7FA0-C709-CBA8A0C71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29088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980DDEE-7632-5B14-2A7D-F464069D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EFC7477-C7AB-0A53-28EC-B2442381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6BA9CEE-497B-FB1A-BD98-BCAB19CD214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785004F-1ADA-1298-F7E0-485F06F79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29BC594-7BEC-EA95-A133-62AECD00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FB334FB5-4544-6AE6-65D1-7B0CA148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AEBDF47B-1697-98AE-5AB2-116A9418D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16869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400" b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752F6-9906-5EF0-9EBD-78264824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1C345E-2909-5A3B-3F9D-85DA8F33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A358B9-2E33-0212-774A-0BEE4F1C0DF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9D72564-9320-8BDC-5429-4297A80A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4582CBD-7728-C3BB-38BD-E6258C78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B2BC26B-9D23-6156-465F-97E28214C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6894E8A-9EF3-4D19-E4F4-E1A01D2F9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47945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DF661-6990-4747-C277-61246E52EC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823" y="2147455"/>
            <a:ext cx="5143920" cy="38786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FE29D-91CF-B2DE-DEA2-75EF5BE788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1251" y="2147455"/>
            <a:ext cx="5143920" cy="38786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182AF1D-5CFE-B9F5-3337-E5B575C5EB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85FD5EF-4D46-8AA7-AE04-64FE00AE2A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85744AF-3F93-372A-A9B2-90594BF4CD1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C48AFE3-82F7-4801-D20D-7CF473527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4B2C388-87FD-655A-2A84-89019A067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D06BE1A-02B2-BE27-526E-ACEC6A91F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205F9FCA-7E9D-1601-F2B7-45FEA18C2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1689242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55B0019-E601-A7C3-16B6-D9384E6F33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823" y="2863423"/>
            <a:ext cx="5143920" cy="316265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5346D32-CCA3-0C2B-EA94-34F543B3E3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1251" y="2863423"/>
            <a:ext cx="5143920" cy="316265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42E1163-D084-CFE8-91C4-8A5E0B945C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C35327D-7E30-F96B-2813-5DEACA2538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EE915EA-3D19-3199-076B-D976C811E67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B83838BE-9616-1EA8-0CAA-CE2B04CA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6683AC4-F6DB-94C2-AD96-26F92E109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0AEA82EC-B8F1-CB92-3134-784B6A5BB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6806C72-68EE-29A0-AAA3-2780E2D6B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1130484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01800"/>
            <a:ext cx="3567642" cy="36025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AC11847F-5B72-C042-167E-94C2B8781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9288"/>
            <a:ext cx="11335168" cy="4287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677568" y="6400800"/>
            <a:ext cx="36576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3774ACF-453F-191A-8CC1-5062D32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4FE0305-D16E-A2B4-2416-317566F4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21345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6331987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01800"/>
            <a:ext cx="3567642" cy="36025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849777E-486A-1EE1-4DCC-7807B59343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09096" y="1336906"/>
            <a:ext cx="302943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78450C3-9C1B-5B22-AE7F-83B461FBA2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9097" y="2238515"/>
            <a:ext cx="302943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539111F-180A-37D3-EFC1-AABF8658EBC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434483" y="1330558"/>
            <a:ext cx="302943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742939A1-742B-B657-0846-E84E08ACFF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34484" y="2232167"/>
            <a:ext cx="302943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AB50A18-7321-5FD1-42D3-6E701DDF7AB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99156" y="3746037"/>
            <a:ext cx="303937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DD7BC4-1A61-78FC-EE2F-AE4309C375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9095" y="4648058"/>
            <a:ext cx="303937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2A14645-19C8-2EFA-9685-56E6E108B72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24543" y="3746037"/>
            <a:ext cx="303937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6965213-DD73-73BF-B3D1-70B65D211C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34482" y="4648058"/>
            <a:ext cx="303937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AC11847F-5B72-C042-167E-94C2B8781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9288"/>
            <a:ext cx="11335168" cy="4287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0F390-488B-84A0-E155-B38935DD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335" y="165364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9771D8-E91F-4141-E9EB-45FEF9EE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335" y="405954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A72A46-086A-E4C6-3555-235740365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6722" y="164729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5DB63E-048A-0C77-A82F-F71D245B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6722" y="405954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3774ACF-453F-191A-8CC1-5062D32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4FE0305-D16E-A2B4-2416-317566F4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AFC9A4DA-3A9C-2881-43D7-C1B787FC84C5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677568" y="6400800"/>
            <a:ext cx="36576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950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3" y="863598"/>
            <a:ext cx="5017040" cy="1813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2D9C35C-FE7A-2606-3BF7-0DD55FE91DE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54095" y="28356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AAAA255E-A9F7-64F2-4185-89F6B230D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54096" y="37373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38EEC2C-D0E1-7BF6-1F07-61A2FA4156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4093" y="454460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DD113AFF-B32F-701A-C199-5993F526E2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5446215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BB38F7B-AD18-9B5A-2040-A338BD9834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25097" y="111490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756C2BDB-B9FA-A823-794C-40C06F2E5D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016518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9914AD-BD15-D5E8-214B-C0514EABB2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25101" y="28356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E8AD6EB-E1C4-9DF7-5E39-F1AE37674A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5102" y="37373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9DFA9A-949C-E801-CEB3-53DADD3E400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25099" y="454460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084F1887-0950-B872-45A0-E42DC90567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25100" y="5446215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FC5CB-6377-F1F8-D257-8B548090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8" y="342659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4409F-782A-C9BD-37FF-F2C0AB50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6" y="513550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F91057-1EA6-930F-A379-A9645B787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4" y="1705804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4A6F2E-6C27-C29A-8E76-227CDF4D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2" y="342659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760381-09C0-1651-094D-2E5E8BD7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513550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696E249F-C7EB-0231-EA81-C6E82F1B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2F4E0AA4-270D-BB51-BA89-08B5EA19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A3C9FF1E-A0F4-D3AE-6CB4-5CF407A8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C2BF18A-B722-B5FE-1AC8-E44F0580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381174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2" y="617759"/>
            <a:ext cx="10553138" cy="9234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2D9C35C-FE7A-2606-3BF7-0DD55FE91DE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54095" y="181874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AAAA255E-A9F7-64F2-4185-89F6B230D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54096" y="2723284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38EEC2C-D0E1-7BF6-1F07-61A2FA4156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4093" y="334477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DD113AFF-B32F-701A-C199-5993F526E2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4249313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530C7-8376-4FE6-5A73-9B4E9D257C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54093" y="4881064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B61E22B-AF0A-C90B-8B8C-B2C63BE626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54094" y="5785601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BB38F7B-AD18-9B5A-2040-A338BD9834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25097" y="181874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756C2BDB-B9FA-A823-794C-40C06F2E5D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723284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9914AD-BD15-D5E8-214B-C0514EABB2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25101" y="335665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E8AD6EB-E1C4-9DF7-5E39-F1AE37674A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5102" y="4261192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9DFA9A-949C-E801-CEB3-53DADD3E400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25099" y="4882684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084F1887-0950-B872-45A0-E42DC90567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25100" y="5787221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FC5CB-6377-F1F8-D257-8B548090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8" y="394755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4409F-782A-C9BD-37FF-F2C0AB50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6" y="547358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F91057-1EA6-930F-A379-A9645B787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4" y="240964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4A6F2E-6C27-C29A-8E76-227CDF4D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2" y="240964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760381-09C0-1651-094D-2E5E8BD7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393567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696E249F-C7EB-0231-EA81-C6E82F1B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A3C9FF1E-A0F4-D3AE-6CB4-5CF407A8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C2BF18A-B722-B5FE-1AC8-E44F0580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34779-527A-5D76-E4D2-BEEF319A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547196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242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667" y="692150"/>
            <a:ext cx="7450900" cy="14251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776666E-7119-B52E-FB68-3B3762183B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60428" y="2247809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CA452D41-C9BA-952A-1233-7B2AFD8E16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0428" y="2932209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BE004D1-5250-D529-63E8-D7A6A2F7490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160428" y="3626741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86CD502-5D37-1384-6492-19F8B23360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60428" y="4311141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0316264-A121-B24F-98A5-242A5231F5F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160426" y="5007045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5B7BE60-7193-978E-6A88-D93FDB6BCF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0426" y="5691445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AB9C2D-EF70-4793-0770-45AB789DE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7" y="262316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79DF8-EAB5-42E3-6949-8BF5D7FC7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7" y="400209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389006-92B2-44E1-05B9-63CEF740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5" y="5382397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A8073F2C-75C1-4EFD-ACEF-2412096F0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16018" y="616016"/>
            <a:ext cx="2512194" cy="128016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5" name="Freeform 3">
            <a:extLst>
              <a:ext uri="{FF2B5EF4-FFF2-40B4-BE49-F238E27FC236}">
                <a16:creationId xmlns:a16="http://schemas.microsoft.com/office/drawing/2014/main" id="{691DEB88-9026-FEE1-C106-50BC212B9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2512194"/>
            <a:ext cx="853043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E3EA5E87-295F-6B28-01CC-520C2033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2399" y="2938198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7" name="Freeform 16">
            <a:extLst>
              <a:ext uri="{FF2B5EF4-FFF2-40B4-BE49-F238E27FC236}">
                <a16:creationId xmlns:a16="http://schemas.microsoft.com/office/drawing/2014/main" id="{5B4F6E93-8D13-7176-E85D-E46C3846A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6520" y="3364202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540880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42" y="685800"/>
            <a:ext cx="8024925" cy="13832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B1B3EBC-C7FD-69C9-A274-AE0B16E568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52901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E5F29BF-A1AA-50E3-082A-4997EDAF02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2901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F4D059E-B311-65A2-2D14-32C312C65A8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95999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08C1360-CA37-9A42-8D0D-FE5146D9A4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CBF8A61-F268-DBEC-3A71-276133A030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52901" y="4217739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5628BB4-2617-B1EE-BE54-D48D731653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52901" y="5119348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3232C023-22C2-15B5-1EA8-FAFD166590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5999" y="4217739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3199CD57-9C00-D521-A88E-4AF5244B9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5999" y="5119348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8F9830-6CB2-C6C4-A110-8AADF245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2ECF78-2347-7CD1-E87F-5E95BABAA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0" y="481030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40AB3A-8BC7-EDD9-9DBE-DF506490D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8240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8EAA15-F279-CDE3-F64F-03F2A2A00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8238" y="481030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CA1CBF79-B5C7-F284-50BB-C0969F47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295822" y="616016"/>
            <a:ext cx="2512194" cy="128016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FEF8202E-3787-8182-81F2-347166F6D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8956" y="2512194"/>
            <a:ext cx="853043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83504BD9-659D-44DF-0F6B-2F024CBEC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11836" y="2938198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C3024DBD-1AD0-300F-64F2-0ADCB8FBF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7715" y="3364202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4517021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7373297-846C-B4F3-2B4F-7AB97FC87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2963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F525C49-1EC6-C953-952A-9C0B673F9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2963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4D0FE35-68B7-F8D6-CFD1-FA9AE7517FC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14263" y="215144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2752734-4009-4317-3AF6-6A2D2B0A0F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14263" y="305305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0EE8E11-D9DD-B95E-ECD4-34947EE437F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42963" y="424442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96DD13A8-A9ED-518F-C15C-F89B3B857A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2963" y="512104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2ACCAAF8-2578-CDD3-CBDF-95070976770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14263" y="424442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E07E49F-49EA-D6C8-1A6C-BCB77F0FEA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14263" y="512104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C3116-5FC4-6D3C-9771-11C3CF263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2B9F7-9DDE-CBEC-A4E9-73708DD5A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4833758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2B66F-2669-735B-E964-201CA9FBA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502" y="4833758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16373B-443E-532C-AC6E-284D76B5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50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914733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D6CC9D-1E5C-D330-5CD9-485C58B3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41175" y="3004398"/>
            <a:ext cx="784800" cy="7848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74759C-61C1-FED5-2A8C-C5D3CD764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7671" y="3002349"/>
            <a:ext cx="784800" cy="78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4431B5-DD99-71D2-6D14-EBE9A5B4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44263" y="3950290"/>
            <a:ext cx="784800" cy="78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C6EF5-D5F7-A6AA-6C1D-F9BF9E689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5472" y="3950290"/>
            <a:ext cx="784800" cy="7848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16035-603A-F70F-118F-FC83CACBFE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1307" y="3016592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7373297-846C-B4F3-2B4F-7AB97FC87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437" y="2147363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F525C49-1EC6-C953-952A-9C0B673F9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438" y="3048973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C16475F-7D04-6978-B09C-8CBA2E8755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7803" y="3014543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D5AC1D6-4159-2429-73E9-F8E5DA71D56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307544" y="2151213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DED373C-D520-D9F6-9244-C1F73ADC2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07545" y="3052823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673F17-6226-04BC-206C-F63523AE4D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1307" y="3962484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F42C4EE3-A8A6-1B37-DA6B-13956FE630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9382" y="388944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B6576A4B-AB76-1DDB-B0B7-C9C24D5F54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383" y="479105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0D5317D-991E-1344-1A36-B0F5969698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7803" y="3962484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4DF615FF-E36B-2394-D68D-256FA30A47F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318489" y="38932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C95B08F-877F-131A-AF95-391849EF259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18490" y="47949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6437666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37B0EB-F14C-5109-A398-76A971A01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2377981"/>
            <a:ext cx="786131" cy="7861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C7831-094F-DC73-ABE4-58346EBE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3330122"/>
            <a:ext cx="786131" cy="786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DA70C-C404-995E-82CC-B1CAF5DEA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4276331"/>
            <a:ext cx="786131" cy="7861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AE0CA1-4B4A-1F9F-D817-EE7391752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5221472"/>
            <a:ext cx="786131" cy="786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EB8CDDE-7062-F7C7-533A-0DA1D6C01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3731" y="2390840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C87BA9-040D-417A-7068-4C09FF10C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32496" y="181330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9518C1D8-FCEA-D90E-8BD0-37CE0ABCB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2497" y="2714917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CD6A-D944-23B5-CFA7-F82D8CBBC0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23731" y="3342981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AF26A924-72D6-0586-A600-24324D505F2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803482" y="2732050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3D40CBC9-BDEF-8DC3-976F-5B19A88111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03483" y="3633660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B41CC40-8BC9-AE2E-16F6-78BAB06C11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23731" y="4289190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823E073-A7AB-E504-F4B0-2F50B06AF25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132494" y="3693652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062D47-A566-F3EE-0166-49A05CB851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32494" y="4591538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7E5E086-4986-52F6-53FB-2CC51E3DF1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23731" y="5234331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79148521-054A-FDD8-BB08-0FCA3A47DB1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03482" y="4651530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081477D1-4074-4385-6007-BCDA998F1B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03483" y="5553140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293802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9A771-3360-4848-8058-9B276218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C0542-750D-FC8A-65A4-8612385F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7B329-1D46-AA3A-055D-010B0A72A11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57989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4FD12B5-C08B-43C2-5F7C-4A28BC1E9D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10100" y="831919"/>
            <a:ext cx="6672962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BB5203DB-DA17-33CF-A295-FF44A678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974E1595-A81A-1E52-AAE8-D2DBC7A0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2E19276-C47C-E9F4-D239-56927281C56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EB1EA01-7484-3B83-FC1C-4E2EF8B34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323DC105-DFF8-5F1B-F380-BF0A6726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62DAC594-AD47-415E-86E0-31A1DD15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06EBC57-7C1A-9AEC-B52A-63C69BA65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8143587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E64A7F7-28BB-5654-376A-7A7D528A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0437C5B-B26C-24D8-A8DA-B6DB447F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FCE7284-F893-7EA9-F6A5-BF2268D7B273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ED5BD17-2EF7-5E4E-DBF9-911CFE3CE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2634C39-C549-08B5-2FE0-966AF95D6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AAEA0BD0-7286-BB32-CA93-F0152E676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82CA0F8-B7A8-D555-863E-E2FD09DF4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038844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BD1D85E0-4E77-E90F-B8F2-FDEFE828375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7175" y="2847974"/>
            <a:ext cx="10435887" cy="328136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57D1C-CDC2-0E5D-67EA-B14368C82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60D4B17-6359-315B-E9E9-E55BB02E15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013EED-67B4-03D8-79CD-3FC93A0C4C1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98746BD-760E-A84C-738A-E2024BE7B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A92588C-728C-AC98-0CBB-CDC6D09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8983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251456"/>
            <a:ext cx="10861675" cy="1842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19336D0-54B4-2AA8-29AE-C4D3A2D197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625462" y="1028700"/>
            <a:ext cx="3657600" cy="24003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CB7DA-9AEE-6FA1-087D-DA71265B9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27E333-BC16-126E-3672-5F9DE9B4CF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2A9DAD-A20E-2993-8C88-487838E87FA0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08EE525-BA35-6816-DAD0-0CA759D8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335174" y="42870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30CC9933-AFEE-4AFD-2132-FF5A8D515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4236" y="-3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70774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18412-3738-E9A2-F4DD-CDD60FBC7FA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B346E-048F-3002-6F84-0D7265B6FCE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566DC-DD77-AECA-A19F-397663A3DADC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674A01-4078-B7D5-B0F6-A66942F0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251456"/>
            <a:ext cx="10861675" cy="1842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7B67F74-84C3-4C87-39A2-F4160715D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335174" y="42870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8F16829-F829-2546-91E9-CE7CD44D7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4236" y="-3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884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00F9D-6BF6-957B-A6D3-0E96925D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x-non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407F21-3646-7172-8530-F50056F6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3F0A1D-D059-4BE7-9EA0-2C7E2E4EFB9A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78C1AB3-B0B2-AE5F-1048-4D743F91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7367BB-EEA7-C797-7FF6-F3FCEAD4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1DF2-F8B5-41DB-B9CE-549E29DE7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9293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844A7-B609-85FD-CC4A-4DBFB6B3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x-non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BB1023-2EA5-D864-B15B-C0CBD487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x-non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42C59E-25F5-C61A-CD4A-C5DADAC3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3F0A1D-D059-4BE7-9EA0-2C7E2E4EFB9A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60C2E4-A476-39E6-DB8C-A0D21C1C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C7D5B1-6B07-FCDC-D424-DAC2E5E7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1DF2-F8B5-41DB-B9CE-549E29DE7E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9402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3280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279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972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654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814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440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63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974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248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3089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944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295D8B2-9056-5F99-524B-992D6B71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01914"/>
            <a:ext cx="7478990" cy="1209886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2FF3FC0-4D75-161D-C48F-E663E849A4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08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E211A-2B25-73F9-8610-7F479B5C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1AC5D-4652-E05B-977E-27B58CD8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C35B749-8DE8-ADCB-2F86-C87BF3917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27093" y="703251"/>
            <a:ext cx="2338939" cy="5687058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030EDAE8-F31E-51B4-86B8-F173F8DAA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25640" y="113030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D79DEA20-1D89-DBC1-6D1C-7E4145FFF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906897" y="598075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27774AB-5184-F8DC-EBAD-8B9668923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327093" y="598075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350B783-78C6-EE38-DA71-7E78047B5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5836" y="7032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A7970F0-3A4F-145C-49D5-4CE5EE447C6C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8273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4983704-B583-1052-563A-B53363B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4540250"/>
            <a:ext cx="7833895" cy="86995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4DABCCA-E2E8-7FB3-9E94-2D5CBC433A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0" y="5731072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60C90-A64D-EA57-C250-7F6B5C62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744C9-267E-88FA-6A9B-D9965A1C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68B97-7F5A-074A-AA5F-405C1C9A90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92430EE9-AA9B-55F5-E9EB-2477BBEC5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86" y="1352403"/>
            <a:ext cx="2338939" cy="415319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7710BA9-6D74-7E0A-A6C5-03915DAC3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5333" y="177237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71C9C084-8011-DA6C-04F3-93DAB6DE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751830" y="462244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C3458FEB-30A1-907F-9C24-4DB1C688A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172026" y="462244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A4B7D57A-D0D1-0C35-57C7-0CBB2D3D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5529" y="1352403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05601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36AD52-10AA-8FF2-9DBD-006BB4149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068762"/>
            <a:ext cx="7620000" cy="94773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9CFCA-5141-8256-021F-92BB3135FF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37125" y="5676900"/>
            <a:ext cx="2317750" cy="2667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B9120-E38E-CE16-47F0-8F3DC507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04969-9E31-5ADB-27D8-169E092A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9EEE4-FE5A-9A5A-EB28-51E4823454B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78DD2050-C149-DC86-FA33-E6400182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C1A9F0B7-7647-0A46-600F-093B3C386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B7E9B1FA-8FCD-502C-664D-87E4130B7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C0313B8D-267E-4E67-9BB2-73FFF5738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75611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 descr="A person in a yellow sweater is writing with a blue pen at a desk, with colorful sticky notes and a calendar on the wall behind.">
            <a:extLst>
              <a:ext uri="{FF2B5EF4-FFF2-40B4-BE49-F238E27FC236}">
                <a16:creationId xmlns:a16="http://schemas.microsoft.com/office/drawing/2014/main" id="{04CD25B5-7E35-A0A0-4AAE-9BE1A85EE2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9625"/>
            <a:ext cx="1219200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838150"/>
            <a:ext cx="11149965" cy="78638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DAD88DE-3BF6-67A2-120C-857D25673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59" y="5702288"/>
            <a:ext cx="8624129" cy="42705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6201C7-6FBA-D43A-E82E-228F01096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9341" y="5702288"/>
            <a:ext cx="2396383" cy="427050"/>
          </a:xfrm>
        </p:spPr>
        <p:txBody>
          <a:bodyPr lIns="0" tIns="0" rIns="0" bIns="0" anchor="ctr"/>
          <a:lstStyle>
            <a:lvl1pPr marL="0" indent="0" algn="l">
              <a:buFontTx/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8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8441-CA48-25FF-5FE1-39F3C36F71D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485ED-11CB-C644-3DC0-F0E848C79E7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DA443-8077-37E3-F841-2049B5CDE319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45756D65-7C24-CF09-54A3-91DC74A6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413532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9637255-2E56-FC74-9109-A3BC8AEE0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37255" y="413532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86B62C6B-94C9-CB1E-C499-3150C5B45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17059" y="3708277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98619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29554"/>
            <a:ext cx="5434584" cy="347523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 descr="A desk with a calculator, documents, a smartphone, and a pen holder.">
            <a:extLst>
              <a:ext uri="{FF2B5EF4-FFF2-40B4-BE49-F238E27FC236}">
                <a16:creationId xmlns:a16="http://schemas.microsoft.com/office/drawing/2014/main" id="{ABFA94BE-E127-8C23-A23C-2E91D1FDB5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 flipH="1">
            <a:off x="860889" y="1399070"/>
            <a:ext cx="4648035" cy="4648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4238" y="4731335"/>
            <a:ext cx="5240899" cy="1184585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C497256-245E-EC2A-B917-DEDA61B3F8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34238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EEF3AA-A630-9D65-D67D-432EA12FE2C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B0AD288-50C0-FC9F-DFF2-F33E76C91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0012F6B-7CD7-7D6F-0D9F-2BF6EC538CD2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0C2D5054-A5B7-56F1-E3F8-365E2EC80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2278804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942476-48A2-D607-B84B-FD88A7D36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29708" y="2719093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7430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354136"/>
            <a:ext cx="6045200" cy="311626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58EC3A8-5CCE-85FA-B884-EEEE2151C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4540249"/>
            <a:ext cx="6042025" cy="1363927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D62EC8-93A3-40EF-101F-50FBD2D5AD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0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5" name="Picture Placeholder 6" descr="A desk with a calculator, documents, a smartphone, and a pen holder.">
            <a:extLst>
              <a:ext uri="{FF2B5EF4-FFF2-40B4-BE49-F238E27FC236}">
                <a16:creationId xmlns:a16="http://schemas.microsoft.com/office/drawing/2014/main" id="{A4C2926A-B086-77E7-6749-96E15205D1B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800956" y="1509621"/>
            <a:ext cx="4535049" cy="45350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0C734-CA33-6E49-8DC7-58412A53CE9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AF6CF-C42D-7D83-ED28-050993A06F5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73787-AD5F-AE86-8867-8BABB73AD9C7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E59924-35CD-287B-17A2-484E741FB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2278804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CB918F-9B11-F269-BA0F-2847E01A7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47140" y="2719093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499224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5735344" y="469430"/>
            <a:ext cx="6032576" cy="43936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43790D7-8F49-6362-2C15-0D2A18396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344" y="4923140"/>
            <a:ext cx="6045200" cy="90466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5" name="Picture Placeholder 14" descr="A desk with a calculator, documents, a smartphone, and a pen holder.">
            <a:extLst>
              <a:ext uri="{FF2B5EF4-FFF2-40B4-BE49-F238E27FC236}">
                <a16:creationId xmlns:a16="http://schemas.microsoft.com/office/drawing/2014/main" id="{A6C00183-3017-A379-A605-4279744E29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52020" y="872259"/>
            <a:ext cx="4496227" cy="49555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8DA9E6-714B-8B49-FC71-2A3686BA5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0" y="421938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4DACD4B-FDF2-BE97-FE71-B6B203433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29709" y="433710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2B5D3330-70C1-37CF-8D22-BAF459AD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8256" y="433710"/>
            <a:ext cx="440975" cy="43855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042445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656600" y="478859"/>
            <a:ext cx="5780382" cy="43936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4A035C-5A23-A717-776A-3A8312AAE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4940300"/>
            <a:ext cx="5776582" cy="1017588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4" descr="A desk with a calculator, documents, a smartphone, and a pen holder.">
            <a:extLst>
              <a:ext uri="{FF2B5EF4-FFF2-40B4-BE49-F238E27FC236}">
                <a16:creationId xmlns:a16="http://schemas.microsoft.com/office/drawing/2014/main" id="{7941C6F0-1082-A975-460C-150A11F578A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 flipH="1">
            <a:off x="6632810" y="858935"/>
            <a:ext cx="4737811" cy="496853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4FBD0B6-3F8E-9BE9-5706-64F2B4624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91" y="421938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AF9602F-7F10-CD5B-8E33-183ECE8F5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847140" y="433710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19D0C73D-F93A-5A6B-5C89-EC8FC5CA9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852769" y="433710"/>
            <a:ext cx="440975" cy="43855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7721574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3686476" y="2077397"/>
            <a:ext cx="7168298" cy="20313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9D347E0-792A-5E80-87D0-12F035F27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6474" y="4237195"/>
            <a:ext cx="7168299" cy="1017588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3BD3B82-4EEE-63B8-0322-AD8AD67EE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2310063" cy="6858000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6BC6B37B-E720-B522-1D01-8ED48EF9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0196" y="42643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2B5D3330-70C1-37CF-8D22-BAF459AD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F1805FA6-8298-F291-CE24-576994C4B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10062" y="64309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26625098-E177-27B9-FFD9-614B8B574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89866" y="64309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80702136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23" y="1231969"/>
            <a:ext cx="3200827" cy="471163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8B0F28F-0C6C-C34B-89FA-14F172472B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2023" y="1671090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40AE24D-CA4C-6015-CE13-8F5F9A3F807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547" y="1677447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FF2249B5-E3EF-2A61-DA34-6F638565C4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22023" y="2424339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7FB7B6-1333-FBCB-1F39-EFF7587DB75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461547" y="2430696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AE0F2F7-60FC-481B-75C8-43B1393874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22023" y="3171231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D3DA225-1218-80C3-2B80-287832B27A8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480598" y="3177588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3B492BAE-C9D1-4D61-4697-76847AB5785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22023" y="3931308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DE5D6F0-65E5-A0F7-C7F2-45363510923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480598" y="3937665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370CE8B-96AD-BF95-4CDC-EC8FB535A0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2023" y="4692553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FC95A06-731A-62D0-CFDA-7D84D69DCFC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461546" y="4698910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2BC545E-C050-7044-0FAE-450365158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0263A07-4780-099C-AAEB-E705934ECC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9109AE7-CBA2-795C-05B3-A830D267799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6E9E6CBF-EE80-8615-4945-008D73DD0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2413762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F871899F-7393-04EB-4674-884247701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3150078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FAB95E92-379E-B22D-D07C-62BB874E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3895592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">
            <a:extLst>
              <a:ext uri="{FF2B5EF4-FFF2-40B4-BE49-F238E27FC236}">
                <a16:creationId xmlns:a16="http://schemas.microsoft.com/office/drawing/2014/main" id="{16EA8662-B4F9-3505-F72F-B02B538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4659839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">
            <a:extLst>
              <a:ext uri="{FF2B5EF4-FFF2-40B4-BE49-F238E27FC236}">
                <a16:creationId xmlns:a16="http://schemas.microsoft.com/office/drawing/2014/main" id="{FFE9B368-D527-01EB-F0D1-C30D8E6D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9FE232FF-D2BE-4E0E-DA3B-FD396BC3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329111F0-F918-BC57-289A-D24923BD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93E98BD-67D0-8DD3-774C-EAEDE611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8110704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23" y="1231969"/>
            <a:ext cx="3200827" cy="471163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F92CF81-475B-E11D-832D-0072BAC9D8A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7675" y="1231969"/>
            <a:ext cx="7025387" cy="471163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2BC545E-C050-7044-0FAE-450365158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0263A07-4780-099C-AAEB-E705934ECC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9109AE7-CBA2-795C-05B3-A830D267799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FFE9B368-D527-01EB-F0D1-C30D8E6D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9FE232FF-D2BE-4E0E-DA3B-FD396BC3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329111F0-F918-BC57-289A-D24923BD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93E98BD-67D0-8DD3-774C-EAEDE611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3046112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9B066B4-ACB0-28F0-C3B6-67C63A589E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1" y="1485900"/>
            <a:ext cx="10504000" cy="44577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80879DF8-9526-92CF-8230-C70EF354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07FD68B-1AD6-101F-D3DE-DAF3C92C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1AC2A36-7979-BA48-54B9-95E1A6C4051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5ABBDD1E-8CA9-5C8B-14F1-96A2532D5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9DB0A1A7-C301-36DF-8F7A-18719CBF0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A355DAF5-28E4-5925-6DA3-38CCBA1F4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11D44271-EF1F-8303-4243-8A72DF6D0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6547696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49B89C60-EF19-F6F1-7257-C0BC3472E62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3375" y="190500"/>
            <a:ext cx="11525250" cy="59388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5C6FA2-90C7-08DA-BDF0-89E45ACA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BBD8900-DDD8-D599-6C12-EA7E0804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585E52-E701-4675-88B0-9E59E89AD1C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00597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5D99071-8469-2F9D-85C7-75498231710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1" y="1876425"/>
            <a:ext cx="10504000" cy="406717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5433F8CD-8B1C-F759-42F9-3B3374AA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B3DFB43-803E-641F-E9EF-8CD3098D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D39A52-5EC5-CA59-5294-453476F7F8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0E0B388F-0FE0-B6D7-F2BC-FC99409AC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51DEDEB4-48CF-C1E9-4407-F0CABC147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891DE7FF-C57C-1CD5-FF97-087CC77A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F6627F8D-557C-C989-6B73-4EC3FE6F5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7634552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56A1C0D-8354-4EBB-BAC5-55B8932C331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7375" y="2385975"/>
            <a:ext cx="5680626" cy="245479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CB2F7E1-9F23-D397-D992-8D69FD51E1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A2385B-8506-2D5D-F07B-2E09284ADD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368BEC8-7387-5B4D-7CCA-4C8B0CE3337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95E810B7-3620-D906-C0C4-97BC02CE6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F1124C05-E6B0-DDED-8F57-17508F5D8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AC47281E-14E9-4F7A-156F-6A77FE744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AFCD36A2-457D-5843-DE05-EAE43B17D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4292262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513B916-63AB-A388-7882-766F60A6E4B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00649" y="2258568"/>
            <a:ext cx="6147351" cy="355701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2DB2-1C39-84E4-0FE0-A2F296AF50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DD7F3D-2965-DB48-7373-4FBBF68B0A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1BDB344-D893-6274-41D1-D5E6DA9282D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0682207-BEA6-1CC7-B6FF-820FE21D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90806" y="0"/>
            <a:ext cx="401193" cy="39773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001EA4F1-77C1-276D-08ED-B686A2670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92033" y="397734"/>
            <a:ext cx="399377" cy="40026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4B00C23-DE19-2EC5-068B-4FBE8A2E4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92050" y="0"/>
            <a:ext cx="401193" cy="39773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67A03CBB-1F42-A2CB-AE12-A7B11C168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90806" y="797994"/>
            <a:ext cx="399377" cy="40026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375921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E45B5BB-1826-D3AB-22C7-5A160F6D107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19699" y="1109587"/>
            <a:ext cx="6128301" cy="463882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3427F-794A-5F66-49D6-54CFCA2913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8473E-336E-B13F-2690-DA45206C89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B3D79-D6C0-B872-9C9F-86900C2B6083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FF662FE3-8DEC-6672-AB7C-3EB25539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2" y="0"/>
            <a:ext cx="431229" cy="4275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4FE3D795-418D-1CFF-7D7B-61B867947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30578" y="427511"/>
            <a:ext cx="429278" cy="430227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49AF0560-4C26-5021-7336-24E0BBFD9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8556" y="0"/>
            <a:ext cx="431229" cy="4275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310526FF-AF06-7908-5126-67880AE66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50" y="857739"/>
            <a:ext cx="429278" cy="430227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95168644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22D5403-D428-6D60-B735-641C0CE3ACA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219699" y="877457"/>
            <a:ext cx="6128301" cy="49406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9FE67-9C10-4AC5-7AE5-D720C34F5C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F1751D-4268-7C4C-9272-15243170DB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12790-A345-6FB8-B114-DFC78AB292F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01788450-E182-A40F-B153-45B57049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A46BB82-91CD-56DD-D57B-19FC1EE1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708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CC7238A-D2BC-B9DF-D479-D4DBB26BD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7472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F064613E-7729-DDB1-C84F-F320364DC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334527" y="0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A432B79C-CB19-6360-5BA9-72FBDF13C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762291" y="42271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9892186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9B5BB62-1676-802D-28CA-B06F5C2C94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19625" y="831918"/>
            <a:ext cx="6728375" cy="5171363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B616CCD-D701-115B-BB1B-C182994067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F643B98-6E2D-806D-A578-B5CF198C6A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B716E9F-8D35-9090-39B7-A4E34B7FF90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997D301-30B0-BF10-46FB-ADBABF36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3196826-9F2A-FE50-5F19-F64F9F72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33EA388E-880F-C7E5-E2E5-D90A7662F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F63E94EF-2901-1535-5D14-9F1233BF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81556444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669" y="1028700"/>
            <a:ext cx="5783531" cy="25641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884089"/>
            <a:ext cx="3710549" cy="36179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CEA338A-52D9-0816-CAB3-FE7C85C1B6E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87669" y="3724275"/>
            <a:ext cx="5783531" cy="209384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04FCEBF4-A201-29D0-0511-FF3BAD4589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CEC21B3-BB52-2743-D2A3-D05704BF48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2DFE063-623F-4A4C-D225-E3BC57C2D65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0761C03-82B7-8061-6D98-03110525E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AC4381C4-E2B3-2C2D-6058-129ADD63D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5FBDCDFF-CE22-1BF5-A139-19CBC1B86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31D80EB8-1E31-D433-19FB-D564A1A4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0095144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828" y="1467469"/>
            <a:ext cx="5976078" cy="1741243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FE79FA3-EB7B-08A9-30C4-84F82ED3EB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64829" y="3428999"/>
            <a:ext cx="5976077" cy="238911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CEF7B94-8DF5-CD59-61D5-3089382676E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4CF5E1F-98F4-D429-818E-9D44CFA3E3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22A3235-521E-4C45-CDC3-6698C38657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5336" y="1467469"/>
            <a:ext cx="2659081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AEB61E72-1084-D791-0662-FC100A43B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C1C729B3-1B41-5507-CBAC-58E69275C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DD336441-2E54-E218-F16A-B0ECE84A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5884BEB0-5C9E-8AE1-4760-285A440E1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253943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9720A26-C873-5C29-E72D-90F3B1CB32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90001" y="1895475"/>
            <a:ext cx="6845169" cy="392264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8505280F-C00B-D852-D936-3C62B327FA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649DE42-A034-6938-4645-DADFDF1A59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3716C51-B5CA-9A24-279D-F2F076975B91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F3807AB-A960-C1FA-B9B5-5323E912F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D00BC8B3-50EE-3DC1-51C9-B5585196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011860CD-6625-E573-D0AB-DD780DDB0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15E657D-9708-6AD2-41B6-BCE5D3F9A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07043490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90" y="1320799"/>
            <a:ext cx="4030964" cy="242570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A31E21B6-315E-0EE4-C02E-A0648CAB5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90891" y="3914775"/>
            <a:ext cx="4030963" cy="180229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6543" y="1320799"/>
            <a:ext cx="5030611" cy="439627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8964B-53EF-958B-94E5-11C4DD04DA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77FF109-7F0F-4A2E-9FA3-C6EABE92F2D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9D5FAC-A9EF-AE3D-A67A-DB8A3E688775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6530E643-5E7C-7FB1-4446-DF0D50DAB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33D1D9F1-47C9-B6B1-B30A-198D9FE76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708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99736603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D72E3C85-5B78-070D-0E85-F61C36C6DE2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85613" y="2505074"/>
            <a:ext cx="4349557" cy="34982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81AE97C-0D8A-97CD-143B-4E873DF8D45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6DCA34A-BD0C-B4B3-3A81-BC2314E693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D8F7D4F-C51A-2B0B-3320-9FFF5DEF75C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913B7FA-DF66-9A42-9196-7AD2A8E70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AFF422F5-A586-964B-51D9-B6E8BCE80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5D2898C3-C59B-1BEB-28CF-DD2150F0E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900C280-B9AD-55EC-A2F2-5BF549615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68070772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70DBB60-4744-4506-B04A-029A56CA36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63" y="2505074"/>
            <a:ext cx="4349557" cy="34982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B3F20AB-D164-609C-9D26-6BE8679C14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E316387-4B77-3018-C8D4-20B9C9A4F7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C9441A4-CAF7-5B2A-2ADE-FC2E4365252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5ED2DB15-A178-88C7-5262-D5BF96969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761A9A58-8325-8CF2-D7A3-B44FA3E2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F55789C7-6AFB-B4A6-ADA1-CA1E7D5BD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BF7BEB2F-49A2-5201-C771-B110DEB1D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02396324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B8BE4E3-0A8E-B7FF-17E3-5F829F6F7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25065" y="1962150"/>
            <a:ext cx="4510106" cy="404113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0BE74478-B59C-F28B-B6EC-90D5793F31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5A0F753-A2C8-3093-4545-3E25F7C420C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C5C86C9-7977-210C-FF76-5D76368777C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5FC2361-0921-A5EE-A48C-3AE54D6F1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FFDD853F-6E3C-53A6-7449-4BF464A4C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B35B4EF-EFBB-90E4-C362-B0E484C4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12EA2A9A-71AC-7D92-AA4D-2E791ED6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65204622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C1E2C21-EE4B-2C8B-7CB9-35AD1DFBB81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3491" y="1971674"/>
            <a:ext cx="4571999" cy="40316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D8EF016-30D8-AA3C-015A-9589348E6E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A0C6602-1676-63D6-1D45-CB08F670860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B99027E-21B7-3B09-FAEC-51F2F6D9436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DE6F2C8-E586-9C4B-CC6E-8B149A29B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2C0B3833-ED9E-3D8F-8DE7-0EF738885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C0B80A75-F7DC-AECC-C696-A3DCFAD3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24644226-D2C8-98C1-9FFC-9F9CEDB3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557189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68866772-5D8C-7D5B-603A-E01C3829C2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946432" y="2524125"/>
            <a:ext cx="3388738" cy="3479156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0856071-9E72-6DF2-24DA-6DDD1D7907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681BCF4-A353-2281-3C52-1E845F1D2C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5B11221-490C-0DC9-8606-B7DFB7A2F599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8744F2A-4738-CC83-ECD1-CF75C356A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4623F3AC-8D7A-9C6C-3513-8FF1E16B4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A13E313C-E903-EF50-5599-0068431AE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D438454-D855-FBEA-6F68-E21B6174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60755896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E80394F-C876-E714-3A69-F59CC531005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6823" y="2495550"/>
            <a:ext cx="3388745" cy="350773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C25AF93-C1B3-16E8-C0D6-0020B156A6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9154FF2-CCF0-894A-78AD-CCE657F16A7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C4A122A-B87C-0622-0330-09EB9AC986A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1C31CA3-9481-9C28-BA6D-C5B25DFD6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E8DEDD24-7A3F-101A-D9B9-BC14A253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CDC830B8-4070-6414-56D5-754C22B5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48221A83-6D02-160E-DC65-A7888C470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29212884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345FCE3-693B-9463-54D7-0D1001E377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73454" y="3009900"/>
            <a:ext cx="3273552" cy="299338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6D3ACBF-734F-AE25-9603-59B9EBFEC36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6ACF095-08CC-B967-EAF6-461C7D6FA7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87C7E7D-1817-9262-B005-EB5E3734C1C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BF1DE08-0842-0E3E-8231-68FD0BB71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2C58A66E-429E-1DA0-6F92-1617CE0BB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71DA3FA5-CE31-5A8A-E3BB-7F74B5338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696DE3F-0564-CCBB-8009-781ACB372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1338127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4EA3A98-C5E3-B2CD-9EFA-62B317B0BCF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38800" y="4509559"/>
            <a:ext cx="5696373" cy="151652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58A34-E3F0-8B8A-BCFB-8358498FC20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0300A-4E7A-2EDB-59D2-1CB0DA1006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06D6A-CC2F-C84A-C8E6-8CE8C62B619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CA0D19C-970E-A781-D287-30B0BFD98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5B2C7366-AEAB-C81B-8135-B3607F496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AE621B01-C155-8ABE-4692-F3D9CBECB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3935096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92DBEFC-CE96-296C-F6BD-DA8A229B49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971926" y="3785800"/>
            <a:ext cx="7363248" cy="224028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FBC6B-537B-DB90-4A5A-5A8D081296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0822BA-F7DF-D952-F905-8B49D67C88C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F0DC4AA-2D43-DFEB-33A4-3DB62C2B2AF0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7C675A4C-482A-AB12-4B1E-BD0B580F4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11FC9B7C-6843-C1E4-D432-4CADCA89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58AA8C0-7CA2-E4C7-E229-75A563253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48945571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B250CB0-816D-4BD3-B674-5CF861DACCD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0026" y="824389"/>
            <a:ext cx="7337974" cy="224780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215D636A-1DE5-272B-114F-84F7EF0D97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6768F1E-5D7B-152B-B6A1-4925F25D34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2C08477-322B-6E2E-FD4D-5289E084598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5C381C5-01BE-F8A2-36AD-180115739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36B65BB7-D378-0ECA-A109-4CC2BB36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FEB09A4-E771-AF7D-C489-A1F87985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498F6B0F-FE97-F1CA-4FE0-F8CDBBBCA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7409688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8F81365-87E5-251B-1BCF-ABF6619D4CB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219950" y="2081048"/>
            <a:ext cx="4158013" cy="3945033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AF5F04F-3552-0155-4200-E7A1C4EFAB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AB6C59A-71D8-22D7-CE98-1DDAF46D2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B553B0B-2158-2C4D-C27C-A2D2B55F9A7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2655BF5-7AA7-4039-DC01-2AEA1413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70227A5-2556-848F-9137-2A55DE728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DD5B85F0-622A-57B2-715A-66B3AF0AA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2C03148-53E0-2169-1532-E2E4B419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24290295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18A94AB-7FF2-4DBC-2B05-B19E76917E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38800" y="852884"/>
            <a:ext cx="5696373" cy="517319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1C7FBB2-8AD5-E6A9-791C-CE7DA966EC6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4309A19-5C82-3309-2A28-547A4E7EAE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D373E6-1C6D-8642-5490-D3B1F9F41D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73A0C8E-77D0-D5C8-307B-938157217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853E42F0-47C8-3EB7-1F19-F750A4801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E2F9F7F0-85E0-B87D-444C-C2361D332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9F9E29C1-F3F8-A591-16E9-2B7A137D4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2629779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657603" cy="149570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FA52BEC-7ABC-50F9-535E-F0C3BE9893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57726" y="831919"/>
            <a:ext cx="6677448" cy="5152355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123173-E773-532C-8CA5-400A681543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CE1EE5A-6450-C886-E63C-4D2E9F5F0F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D1CC321-2957-0400-79AD-699C25EDFF9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653F13E-2E6C-4DEC-51C1-AC1142651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5FF15E2-F953-F376-A1FD-4F85C5A9A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E9E4F101-61A5-5CE5-F69B-1EBC00B9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5CBF912-5007-F0D7-FEDB-0AAACC658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95013768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7566C-1DB3-3053-2D65-3353F53A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67142C-CD26-C72B-6EA2-E6A713FE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F084B0-A6AE-6292-8F5C-7E786E2330DC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727DF714-C121-7D10-E524-F558DCE2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EF42BA3-468C-2222-DED4-2658FD4EC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344784D-4A93-9D44-F60E-ECA2165A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94380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B175625-28E2-7846-AD8B-E2BBAFA3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E075ED2-332A-D37B-CD4C-EA172485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00DC182-9551-1CCF-EA40-A9AF8871196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651EF77C-884C-E95D-2E87-346463DC0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B00D3FB-6E6F-D7BB-BA5C-536657B29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155AE513-87FB-0260-2E5B-F2B0C90A8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FA5F7C82-7362-042D-3AB6-62465CF3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3110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48517417-50F3-3145-756F-4329495F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201B9B22-62B7-A5FB-8C81-A533C121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4932EF6-F6A7-A4CA-3842-3D63A1E830D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16461C7F-0799-5184-39D8-D6CF9CB69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Freeform 16">
            <a:extLst>
              <a:ext uri="{FF2B5EF4-FFF2-40B4-BE49-F238E27FC236}">
                <a16:creationId xmlns:a16="http://schemas.microsoft.com/office/drawing/2014/main" id="{1AB745B1-1B39-DCB5-CAC0-E02861EC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E58E144-4CEE-6B86-8095-3B46EB993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297A7982-7C87-B89D-0F9A-1D024915B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358151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864E89-BB6D-F63B-20D5-0E9DEC6622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025B81-7CF7-78BA-1674-18CF4DE476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23D931-6346-BB46-A603-5C7481EFE45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6733AE5-0D5D-A6C7-9D11-033BA4AB8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09A476-4267-6CB4-13B1-8D2102BB5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343934B-DBB1-E411-29F1-D4F47D1C4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96F8A92-525B-C0D8-CE7E-E6EEF7AA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10026660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A605F54-6987-5B06-7D18-385EEFEEE5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095E3AF-7096-6917-C862-1471009732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B9F0A5-060E-CE98-CA0A-2FFDD32FB84B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63448F8-6FFE-99E6-1EC9-6E8BC4C9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C888063-E967-0D50-92DE-2034B012A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A7E5103-84AB-E8CD-5150-A57DE1BA1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483C990-24B0-5FD0-A784-8BCF7C3A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14889331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29043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39A2652-0965-F6B5-998E-C6EC1B9B6A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9A8381-0C69-883F-03D9-9538D02E4A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EA39D9-C31E-649F-A5D9-FC2D4FBB0D4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63508BFF-967B-7F9C-3CCA-964277E91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1E38BD0-21B6-FA26-3444-7A989E773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929281-B727-BC89-C33C-8528BE54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CBD4466-8AC5-BD1F-02CF-6D2B94267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17662539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E0A9585-A565-1E09-F363-A3DEA1CD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84C34B2-083C-67DC-0E99-BBF28970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783C94B-157D-363E-D14B-8143686ED985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D366AB2-A7F4-A00A-3A7B-7396211E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9FCA9424-B180-2655-AFED-3266DF551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6B0844FC-89AA-45F7-A714-E64A76774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0595B788-868A-7FA0-C709-CBA8A0C71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966313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980DDEE-7632-5B14-2A7D-F464069D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EFC7477-C7AB-0A53-28EC-B2442381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6BA9CEE-497B-FB1A-BD98-BCAB19CD214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785004F-1ADA-1298-F7E0-485F06F79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29BC594-7BEC-EA95-A133-62AECD00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FB334FB5-4544-6AE6-65D1-7B0CA148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AEBDF47B-1697-98AE-5AB2-116A9418D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731810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400" b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752F6-9906-5EF0-9EBD-78264824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1C345E-2909-5A3B-3F9D-85DA8F33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A358B9-2E33-0212-774A-0BEE4F1C0DF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9D72564-9320-8BDC-5429-4297A80A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4582CBD-7728-C3BB-38BD-E6258C78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B2BC26B-9D23-6156-465F-97E28214C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6894E8A-9EF3-4D19-E4F4-E1A01D2F9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64430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DF661-6990-4747-C277-61246E52EC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823" y="2147455"/>
            <a:ext cx="5143920" cy="38786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FE29D-91CF-B2DE-DEA2-75EF5BE788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1251" y="2147455"/>
            <a:ext cx="5143920" cy="38786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182AF1D-5CFE-B9F5-3337-E5B575C5EB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85FD5EF-4D46-8AA7-AE04-64FE00AE2A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85744AF-3F93-372A-A9B2-90594BF4CD1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C48AFE3-82F7-4801-D20D-7CF473527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4B2C388-87FD-655A-2A84-89019A067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D06BE1A-02B2-BE27-526E-ACEC6A91F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205F9FCA-7E9D-1601-F2B7-45FEA18C2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20400188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55B0019-E601-A7C3-16B6-D9384E6F33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823" y="2863423"/>
            <a:ext cx="5143920" cy="316265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5346D32-CCA3-0C2B-EA94-34F543B3E3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1251" y="2863423"/>
            <a:ext cx="5143920" cy="316265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42E1163-D084-CFE8-91C4-8A5E0B945C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C35327D-7E30-F96B-2813-5DEACA2538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EE915EA-3D19-3199-076B-D976C811E67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B83838BE-9616-1EA8-0CAA-CE2B04CA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6683AC4-F6DB-94C2-AD96-26F92E109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0AEA82EC-B8F1-CB92-3134-784B6A5BB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6806C72-68EE-29A0-AAA3-2780E2D6B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99248911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01800"/>
            <a:ext cx="3567642" cy="36025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AC11847F-5B72-C042-167E-94C2B8781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9288"/>
            <a:ext cx="11335168" cy="4287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677568" y="6400800"/>
            <a:ext cx="36576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3774ACF-453F-191A-8CC1-5062D32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4FE0305-D16E-A2B4-2416-317566F4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21345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66110914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01800"/>
            <a:ext cx="3567642" cy="36025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849777E-486A-1EE1-4DCC-7807B59343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09096" y="1336906"/>
            <a:ext cx="302943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78450C3-9C1B-5B22-AE7F-83B461FBA2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9097" y="2238515"/>
            <a:ext cx="302943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539111F-180A-37D3-EFC1-AABF8658EBC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434483" y="1330558"/>
            <a:ext cx="302943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742939A1-742B-B657-0846-E84E08ACFF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34484" y="2232167"/>
            <a:ext cx="302943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AB50A18-7321-5FD1-42D3-6E701DDF7AB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99156" y="3746037"/>
            <a:ext cx="303937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DD7BC4-1A61-78FC-EE2F-AE4309C375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9095" y="4648058"/>
            <a:ext cx="303937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2A14645-19C8-2EFA-9685-56E6E108B72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24543" y="3746037"/>
            <a:ext cx="303937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6965213-DD73-73BF-B3D1-70B65D211C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34482" y="4648058"/>
            <a:ext cx="303937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AC11847F-5B72-C042-167E-94C2B8781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9288"/>
            <a:ext cx="11335168" cy="4287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0F390-488B-84A0-E155-B38935DD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335" y="165364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9771D8-E91F-4141-E9EB-45FEF9EE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335" y="405954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A72A46-086A-E4C6-3555-235740365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6722" y="164729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5DB63E-048A-0C77-A82F-F71D245B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6722" y="405954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3774ACF-453F-191A-8CC1-5062D32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4FE0305-D16E-A2B4-2416-317566F4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AFC9A4DA-3A9C-2881-43D7-C1B787FC84C5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677568" y="6400800"/>
            <a:ext cx="36576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25631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3" y="863598"/>
            <a:ext cx="5017040" cy="1813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2D9C35C-FE7A-2606-3BF7-0DD55FE91DE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54095" y="28356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AAAA255E-A9F7-64F2-4185-89F6B230D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54096" y="37373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38EEC2C-D0E1-7BF6-1F07-61A2FA4156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4093" y="454460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DD113AFF-B32F-701A-C199-5993F526E2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5446215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BB38F7B-AD18-9B5A-2040-A338BD9834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25097" y="111490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756C2BDB-B9FA-A823-794C-40C06F2E5D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016518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9914AD-BD15-D5E8-214B-C0514EABB2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25101" y="28356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E8AD6EB-E1C4-9DF7-5E39-F1AE37674A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5102" y="37373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9DFA9A-949C-E801-CEB3-53DADD3E400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25099" y="454460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084F1887-0950-B872-45A0-E42DC90567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25100" y="5446215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FC5CB-6377-F1F8-D257-8B548090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8" y="342659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4409F-782A-C9BD-37FF-F2C0AB50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6" y="513550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F91057-1EA6-930F-A379-A9645B787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4" y="1705804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4A6F2E-6C27-C29A-8E76-227CDF4D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2" y="342659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760381-09C0-1651-094D-2E5E8BD7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513550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696E249F-C7EB-0231-EA81-C6E82F1B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2F4E0AA4-270D-BB51-BA89-08B5EA19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A3C9FF1E-A0F4-D3AE-6CB4-5CF407A8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C2BF18A-B722-B5FE-1AC8-E44F0580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123762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2" y="617759"/>
            <a:ext cx="10553138" cy="9234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2D9C35C-FE7A-2606-3BF7-0DD55FE91DE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54095" y="181874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AAAA255E-A9F7-64F2-4185-89F6B230D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54096" y="2723284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38EEC2C-D0E1-7BF6-1F07-61A2FA4156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4093" y="334477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DD113AFF-B32F-701A-C199-5993F526E2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4249313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530C7-8376-4FE6-5A73-9B4E9D257C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54093" y="4881064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B61E22B-AF0A-C90B-8B8C-B2C63BE626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54094" y="5785601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BB38F7B-AD18-9B5A-2040-A338BD9834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25097" y="181874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756C2BDB-B9FA-A823-794C-40C06F2E5D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723284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9914AD-BD15-D5E8-214B-C0514EABB2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25101" y="335665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E8AD6EB-E1C4-9DF7-5E39-F1AE37674A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5102" y="4261192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9DFA9A-949C-E801-CEB3-53DADD3E400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25099" y="4882684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084F1887-0950-B872-45A0-E42DC90567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25100" y="5787221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FC5CB-6377-F1F8-D257-8B548090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8" y="394755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4409F-782A-C9BD-37FF-F2C0AB50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6" y="547358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F91057-1EA6-930F-A379-A9645B787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4" y="240964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4A6F2E-6C27-C29A-8E76-227CDF4D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2" y="240964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760381-09C0-1651-094D-2E5E8BD7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393567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696E249F-C7EB-0231-EA81-C6E82F1B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A3C9FF1E-A0F4-D3AE-6CB4-5CF407A8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C2BF18A-B722-B5FE-1AC8-E44F0580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34779-527A-5D76-E4D2-BEEF319A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547196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9010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667" y="692150"/>
            <a:ext cx="7450900" cy="14251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776666E-7119-B52E-FB68-3B3762183B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60428" y="2247809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CA452D41-C9BA-952A-1233-7B2AFD8E16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0428" y="2932209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BE004D1-5250-D529-63E8-D7A6A2F7490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160428" y="3626741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86CD502-5D37-1384-6492-19F8B23360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60428" y="4311141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0316264-A121-B24F-98A5-242A5231F5F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160426" y="5007045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5B7BE60-7193-978E-6A88-D93FDB6BCF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0426" y="5691445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AB9C2D-EF70-4793-0770-45AB789DE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7" y="262316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79DF8-EAB5-42E3-6949-8BF5D7FC7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7" y="400209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389006-92B2-44E1-05B9-63CEF740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5" y="5382397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A8073F2C-75C1-4EFD-ACEF-2412096F0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16018" y="616016"/>
            <a:ext cx="2512194" cy="128016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5" name="Freeform 3">
            <a:extLst>
              <a:ext uri="{FF2B5EF4-FFF2-40B4-BE49-F238E27FC236}">
                <a16:creationId xmlns:a16="http://schemas.microsoft.com/office/drawing/2014/main" id="{691DEB88-9026-FEE1-C106-50BC212B9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2512194"/>
            <a:ext cx="853043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E3EA5E87-295F-6B28-01CC-520C2033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2399" y="2938198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7" name="Freeform 16">
            <a:extLst>
              <a:ext uri="{FF2B5EF4-FFF2-40B4-BE49-F238E27FC236}">
                <a16:creationId xmlns:a16="http://schemas.microsoft.com/office/drawing/2014/main" id="{5B4F6E93-8D13-7176-E85D-E46C3846A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6520" y="3364202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3549358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42" y="685800"/>
            <a:ext cx="8024925" cy="13832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B1B3EBC-C7FD-69C9-A274-AE0B16E568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52901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E5F29BF-A1AA-50E3-082A-4997EDAF02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2901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F4D059E-B311-65A2-2D14-32C312C65A8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95999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08C1360-CA37-9A42-8D0D-FE5146D9A4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CBF8A61-F268-DBEC-3A71-276133A030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52901" y="4217739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5628BB4-2617-B1EE-BE54-D48D731653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52901" y="5119348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3232C023-22C2-15B5-1EA8-FAFD166590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5999" y="4217739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3199CD57-9C00-D521-A88E-4AF5244B9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5999" y="5119348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8F9830-6CB2-C6C4-A110-8AADF245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2ECF78-2347-7CD1-E87F-5E95BABAA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0" y="481030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40AB3A-8BC7-EDD9-9DBE-DF506490D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8240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8EAA15-F279-CDE3-F64F-03F2A2A00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8238" y="481030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CA1CBF79-B5C7-F284-50BB-C0969F47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295822" y="616016"/>
            <a:ext cx="2512194" cy="128016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FEF8202E-3787-8182-81F2-347166F6D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8956" y="2512194"/>
            <a:ext cx="853043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83504BD9-659D-44DF-0F6B-2F024CBEC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11836" y="2938198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C3024DBD-1AD0-300F-64F2-0ADCB8FBF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7715" y="3364202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16464193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7373297-846C-B4F3-2B4F-7AB97FC87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2963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F525C49-1EC6-C953-952A-9C0B673F9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2963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4D0FE35-68B7-F8D6-CFD1-FA9AE7517FC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14263" y="215144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2752734-4009-4317-3AF6-6A2D2B0A0F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14263" y="305305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0EE8E11-D9DD-B95E-ECD4-34947EE437F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42963" y="424442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96DD13A8-A9ED-518F-C15C-F89B3B857A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2963" y="512104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2ACCAAF8-2578-CDD3-CBDF-95070976770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14263" y="424442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E07E49F-49EA-D6C8-1A6C-BCB77F0FEA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14263" y="512104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C3116-5FC4-6D3C-9771-11C3CF263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2B9F7-9DDE-CBEC-A4E9-73708DD5A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4833758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2B66F-2669-735B-E964-201CA9FBA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502" y="4833758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16373B-443E-532C-AC6E-284D76B5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50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0077512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D6CC9D-1E5C-D330-5CD9-485C58B3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41175" y="3004398"/>
            <a:ext cx="784800" cy="7848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74759C-61C1-FED5-2A8C-C5D3CD764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7671" y="3002349"/>
            <a:ext cx="784800" cy="78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4431B5-DD99-71D2-6D14-EBE9A5B4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44263" y="3950290"/>
            <a:ext cx="784800" cy="78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C6EF5-D5F7-A6AA-6C1D-F9BF9E689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5472" y="3950290"/>
            <a:ext cx="784800" cy="7848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16035-603A-F70F-118F-FC83CACBFE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1307" y="3016592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7373297-846C-B4F3-2B4F-7AB97FC87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437" y="2147363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F525C49-1EC6-C953-952A-9C0B673F9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438" y="3048973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C16475F-7D04-6978-B09C-8CBA2E8755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7803" y="3014543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D5AC1D6-4159-2429-73E9-F8E5DA71D56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307544" y="2151213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DED373C-D520-D9F6-9244-C1F73ADC2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07545" y="3052823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673F17-6226-04BC-206C-F63523AE4D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1307" y="3962484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F42C4EE3-A8A6-1B37-DA6B-13956FE630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9382" y="388944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B6576A4B-AB76-1DDB-B0B7-C9C24D5F54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383" y="479105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0D5317D-991E-1344-1A36-B0F5969698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7803" y="3962484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4DF615FF-E36B-2394-D68D-256FA30A47F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318489" y="38932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C95B08F-877F-131A-AF95-391849EF259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18490" y="47949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53918824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37B0EB-F14C-5109-A398-76A971A01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2377981"/>
            <a:ext cx="786131" cy="7861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C7831-094F-DC73-ABE4-58346EBE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3330122"/>
            <a:ext cx="786131" cy="786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DA70C-C404-995E-82CC-B1CAF5DEA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4276331"/>
            <a:ext cx="786131" cy="7861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AE0CA1-4B4A-1F9F-D817-EE7391752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5221472"/>
            <a:ext cx="786131" cy="786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EB8CDDE-7062-F7C7-533A-0DA1D6C01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3731" y="2390840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C87BA9-040D-417A-7068-4C09FF10C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32496" y="181330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9518C1D8-FCEA-D90E-8BD0-37CE0ABCB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2497" y="2714917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CD6A-D944-23B5-CFA7-F82D8CBBC0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23731" y="3342981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AF26A924-72D6-0586-A600-24324D505F2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803482" y="2732050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3D40CBC9-BDEF-8DC3-976F-5B19A88111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03483" y="3633660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B41CC40-8BC9-AE2E-16F6-78BAB06C11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23731" y="4289190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823E073-A7AB-E504-F4B0-2F50B06AF25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132494" y="3693652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062D47-A566-F3EE-0166-49A05CB851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32494" y="4591538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7E5E086-4986-52F6-53FB-2CC51E3DF1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23731" y="5234331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79148521-054A-FDD8-BB08-0FCA3A47DB1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03482" y="4651530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081477D1-4074-4385-6007-BCDA998F1B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03483" y="5553140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71957537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9A771-3360-4848-8058-9B276218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C0542-750D-FC8A-65A4-8612385F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7B329-1D46-AA3A-055D-010B0A72A11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843596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4FD12B5-C08B-43C2-5F7C-4A28BC1E9D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10100" y="831919"/>
            <a:ext cx="6672962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BB5203DB-DA17-33CF-A295-FF44A678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974E1595-A81A-1E52-AAE8-D2DBC7A0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2E19276-C47C-E9F4-D239-56927281C56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EB1EA01-7484-3B83-FC1C-4E2EF8B34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323DC105-DFF8-5F1B-F380-BF0A6726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62DAC594-AD47-415E-86E0-31A1DD15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06EBC57-7C1A-9AEC-B52A-63C69BA65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10357475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E64A7F7-28BB-5654-376A-7A7D528A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0437C5B-B26C-24D8-A8DA-B6DB447F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FCE7284-F893-7EA9-F6A5-BF2268D7B273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ED5BD17-2EF7-5E4E-DBF9-911CFE3CE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2634C39-C549-08B5-2FE0-966AF95D6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AAEA0BD0-7286-BB32-CA93-F0152E676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82CA0F8-B7A8-D555-863E-E2FD09DF4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41385428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BD1D85E0-4E77-E90F-B8F2-FDEFE828375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7175" y="2847974"/>
            <a:ext cx="10435887" cy="328136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57D1C-CDC2-0E5D-67EA-B14368C82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60D4B17-6359-315B-E9E9-E55BB02E15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013EED-67B4-03D8-79CD-3FC93A0C4C1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98746BD-760E-A84C-738A-E2024BE7B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A92588C-728C-AC98-0CBB-CDC6D09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935712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251456"/>
            <a:ext cx="10861675" cy="1842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19336D0-54B4-2AA8-29AE-C4D3A2D197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625462" y="1028700"/>
            <a:ext cx="3657600" cy="24003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CB7DA-9AEE-6FA1-087D-DA71265B9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27E333-BC16-126E-3672-5F9DE9B4CF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2A9DAD-A20E-2993-8C88-487838E87FA0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08EE525-BA35-6816-DAD0-0CA759D8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335174" y="42870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30CC9933-AFEE-4AFD-2132-FF5A8D515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4236" y="-3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916103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18412-3738-E9A2-F4DD-CDD60FBC7FA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B346E-048F-3002-6F84-0D7265B6FCE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566DC-DD77-AECA-A19F-397663A3DADC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674A01-4078-B7D5-B0F6-A66942F0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251456"/>
            <a:ext cx="10861675" cy="1842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7B67F74-84C3-4C87-39A2-F4160715D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335174" y="42870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8F16829-F829-2546-91E9-CE7CD44D7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4236" y="-3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36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109.xml"/><Relationship Id="rId42" Type="http://schemas.openxmlformats.org/officeDocument/2006/relationships/slideLayout" Target="../slideLayouts/slideLayout117.xml"/><Relationship Id="rId47" Type="http://schemas.openxmlformats.org/officeDocument/2006/relationships/slideLayout" Target="../slideLayouts/slideLayout122.xml"/><Relationship Id="rId50" Type="http://schemas.openxmlformats.org/officeDocument/2006/relationships/slideLayout" Target="../slideLayouts/slideLayout125.xml"/><Relationship Id="rId55" Type="http://schemas.openxmlformats.org/officeDocument/2006/relationships/slideLayout" Target="../slideLayouts/slideLayout130.xml"/><Relationship Id="rId63" Type="http://schemas.openxmlformats.org/officeDocument/2006/relationships/theme" Target="../theme/theme3.xml"/><Relationship Id="rId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9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37" Type="http://schemas.openxmlformats.org/officeDocument/2006/relationships/slideLayout" Target="../slideLayouts/slideLayout112.xml"/><Relationship Id="rId40" Type="http://schemas.openxmlformats.org/officeDocument/2006/relationships/slideLayout" Target="../slideLayouts/slideLayout115.xml"/><Relationship Id="rId45" Type="http://schemas.openxmlformats.org/officeDocument/2006/relationships/slideLayout" Target="../slideLayouts/slideLayout120.xml"/><Relationship Id="rId53" Type="http://schemas.openxmlformats.org/officeDocument/2006/relationships/slideLayout" Target="../slideLayouts/slideLayout128.xml"/><Relationship Id="rId58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80.xml"/><Relationship Id="rId61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35" Type="http://schemas.openxmlformats.org/officeDocument/2006/relationships/slideLayout" Target="../slideLayouts/slideLayout110.xml"/><Relationship Id="rId43" Type="http://schemas.openxmlformats.org/officeDocument/2006/relationships/slideLayout" Target="../slideLayouts/slideLayout118.xml"/><Relationship Id="rId48" Type="http://schemas.openxmlformats.org/officeDocument/2006/relationships/slideLayout" Target="../slideLayouts/slideLayout123.xml"/><Relationship Id="rId56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83.xml"/><Relationship Id="rId51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8.xml"/><Relationship Id="rId38" Type="http://schemas.openxmlformats.org/officeDocument/2006/relationships/slideLayout" Target="../slideLayouts/slideLayout113.xml"/><Relationship Id="rId46" Type="http://schemas.openxmlformats.org/officeDocument/2006/relationships/slideLayout" Target="../slideLayouts/slideLayout121.xml"/><Relationship Id="rId59" Type="http://schemas.openxmlformats.org/officeDocument/2006/relationships/slideLayout" Target="../slideLayouts/slideLayout134.xml"/><Relationship Id="rId20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116.xml"/><Relationship Id="rId54" Type="http://schemas.openxmlformats.org/officeDocument/2006/relationships/slideLayout" Target="../slideLayouts/slideLayout129.xml"/><Relationship Id="rId6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11.xml"/><Relationship Id="rId49" Type="http://schemas.openxmlformats.org/officeDocument/2006/relationships/slideLayout" Target="../slideLayouts/slideLayout124.xml"/><Relationship Id="rId57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106.xml"/><Relationship Id="rId44" Type="http://schemas.openxmlformats.org/officeDocument/2006/relationships/slideLayout" Target="../slideLayouts/slideLayout119.xml"/><Relationship Id="rId52" Type="http://schemas.openxmlformats.org/officeDocument/2006/relationships/slideLayout" Target="../slideLayouts/slideLayout127.xml"/><Relationship Id="rId6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204"/>
              <a:t>Click to edit Master text styles</a:t>
            </a:r>
            <a:endParaRPr lang="en-US"/>
          </a:p>
          <a:p>
            <a:pPr lvl="1"/>
            <a:r>
              <a:rPr lang="en-US" sz="1204"/>
              <a:t>Second level</a:t>
            </a:r>
          </a:p>
          <a:p>
            <a:pPr lvl="2"/>
            <a:r>
              <a:rPr lang="en-US" sz="1204"/>
              <a:t>Third level</a:t>
            </a:r>
          </a:p>
          <a:p>
            <a:pPr lvl="3"/>
            <a:r>
              <a:rPr lang="en-US" sz="1204"/>
              <a:t>Fourth level</a:t>
            </a:r>
          </a:p>
          <a:p>
            <a:pPr lvl="4"/>
            <a:r>
              <a:rPr lang="en-US" sz="1204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01/23/2025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F8950C38-3E77-AE3C-1D49-D1FC8532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200819"/>
            <a:ext cx="10858500" cy="82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962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5" r:id="rId63"/>
    <p:sldLayoutId id="2147483726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47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204"/>
              <a:t>Click to edit Master text styles</a:t>
            </a:r>
            <a:endParaRPr lang="en-US"/>
          </a:p>
          <a:p>
            <a:pPr lvl="1"/>
            <a:r>
              <a:rPr lang="en-US" sz="1204"/>
              <a:t>Second level</a:t>
            </a:r>
          </a:p>
          <a:p>
            <a:pPr lvl="2"/>
            <a:r>
              <a:rPr lang="en-US" sz="1204"/>
              <a:t>Third level</a:t>
            </a:r>
          </a:p>
          <a:p>
            <a:pPr lvl="3"/>
            <a:r>
              <a:rPr lang="en-US" sz="1204"/>
              <a:t>Fourth level</a:t>
            </a:r>
          </a:p>
          <a:p>
            <a:pPr lvl="4"/>
            <a:r>
              <a:rPr lang="en-US" sz="1204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01/23/2025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F8950C38-3E77-AE3C-1D49-D1FC8532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200819"/>
            <a:ext cx="10858500" cy="82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269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  <p:sldLayoutId id="2147483774" r:id="rId35"/>
    <p:sldLayoutId id="2147483775" r:id="rId36"/>
    <p:sldLayoutId id="2147483776" r:id="rId37"/>
    <p:sldLayoutId id="2147483777" r:id="rId38"/>
    <p:sldLayoutId id="2147483778" r:id="rId39"/>
    <p:sldLayoutId id="2147483779" r:id="rId40"/>
    <p:sldLayoutId id="2147483780" r:id="rId41"/>
    <p:sldLayoutId id="2147483781" r:id="rId42"/>
    <p:sldLayoutId id="2147483782" r:id="rId43"/>
    <p:sldLayoutId id="2147483783" r:id="rId44"/>
    <p:sldLayoutId id="2147483784" r:id="rId45"/>
    <p:sldLayoutId id="2147483785" r:id="rId46"/>
    <p:sldLayoutId id="2147483786" r:id="rId47"/>
    <p:sldLayoutId id="2147483787" r:id="rId48"/>
    <p:sldLayoutId id="2147483788" r:id="rId49"/>
    <p:sldLayoutId id="2147483789" r:id="rId50"/>
    <p:sldLayoutId id="2147483790" r:id="rId51"/>
    <p:sldLayoutId id="2147483791" r:id="rId52"/>
    <p:sldLayoutId id="2147483792" r:id="rId53"/>
    <p:sldLayoutId id="2147483793" r:id="rId54"/>
    <p:sldLayoutId id="2147483794" r:id="rId55"/>
    <p:sldLayoutId id="2147483795" r:id="rId56"/>
    <p:sldLayoutId id="2147483796" r:id="rId57"/>
    <p:sldLayoutId id="2147483797" r:id="rId58"/>
    <p:sldLayoutId id="2147483798" r:id="rId59"/>
    <p:sldLayoutId id="2147483799" r:id="rId60"/>
    <p:sldLayoutId id="2147483800" r:id="rId61"/>
    <p:sldLayoutId id="2147483801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435A0E-554D-4618-A0FD-11C15D0C8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002" y="2131037"/>
            <a:ext cx="9093666" cy="1666052"/>
          </a:xfrm>
        </p:spPr>
        <p:txBody>
          <a:bodyPr>
            <a:noAutofit/>
          </a:bodyPr>
          <a:lstStyle/>
          <a:p>
            <a:pPr algn="ctr"/>
            <a:r>
              <a:rPr lang="ru-RU" sz="3400" dirty="0">
                <a:solidFill>
                  <a:srgbClr val="2B1BFC"/>
                </a:solidFill>
              </a:rPr>
              <a:t>Проектная</a:t>
            </a:r>
            <a:r>
              <a:rPr lang="ru-RU" sz="3400" dirty="0"/>
              <a:t> работа</a:t>
            </a:r>
            <a:br>
              <a:rPr lang="en-US" sz="3400" dirty="0"/>
            </a:br>
            <a:br>
              <a:rPr lang="ru-RU" sz="3600" dirty="0"/>
            </a:br>
            <a:r>
              <a:rPr lang="en-US" sz="4400" dirty="0"/>
              <a:t>“</a:t>
            </a:r>
            <a:r>
              <a:rPr lang="ru-RU" sz="4400" dirty="0"/>
              <a:t>Эффект бабочки: как </a:t>
            </a:r>
            <a:r>
              <a:rPr lang="ru-RU" sz="4400" dirty="0" err="1"/>
              <a:t>микропокупки</a:t>
            </a:r>
            <a:r>
              <a:rPr lang="ru-RU" sz="4400" dirty="0"/>
              <a:t> запускают </a:t>
            </a:r>
            <a:r>
              <a:rPr lang="ru-RU" sz="4400" dirty="0" err="1"/>
              <a:t>макротренды</a:t>
            </a:r>
            <a:r>
              <a:rPr lang="en-US" sz="4400" dirty="0"/>
              <a:t>”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FA0397-4C06-4C96-AAFD-3A6B64EE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872" y="4805254"/>
            <a:ext cx="7478990" cy="1209886"/>
          </a:xfrm>
        </p:spPr>
        <p:txBody>
          <a:bodyPr>
            <a:normAutofit/>
          </a:bodyPr>
          <a:lstStyle/>
          <a:p>
            <a:r>
              <a:rPr lang="ru-RU" sz="3600" i="1" dirty="0">
                <a:solidFill>
                  <a:schemeClr val="accent1">
                    <a:lumMod val="75000"/>
                  </a:schemeClr>
                </a:solidFill>
              </a:rPr>
              <a:t>Команда</a:t>
            </a:r>
            <a:r>
              <a:rPr lang="ru-RU" sz="3600" b="1" i="1" dirty="0">
                <a:solidFill>
                  <a:schemeClr val="accent1">
                    <a:lumMod val="75000"/>
                  </a:schemeClr>
                </a:solidFill>
              </a:rPr>
              <a:t> № 8</a:t>
            </a:r>
          </a:p>
        </p:txBody>
      </p:sp>
    </p:spTree>
    <p:extLst>
      <p:ext uri="{BB962C8B-B14F-4D97-AF65-F5344CB8AC3E}">
        <p14:creationId xmlns:p14="http://schemas.microsoft.com/office/powerpoint/2010/main" val="58010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5C4605-FE27-42B9-B861-D378A10C5F08}"/>
              </a:ext>
            </a:extLst>
          </p:cNvPr>
          <p:cNvSpPr txBox="1"/>
          <p:nvPr/>
        </p:nvSpPr>
        <p:spPr>
          <a:xfrm>
            <a:off x="2810311" y="234892"/>
            <a:ext cx="65713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Данные (Амазон времен 90-00-х)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BB4AB-9443-4A6B-9967-25E4BB587539}"/>
              </a:ext>
            </a:extLst>
          </p:cNvPr>
          <p:cNvSpPr txBox="1"/>
          <p:nvPr/>
        </p:nvSpPr>
        <p:spPr>
          <a:xfrm>
            <a:off x="369115" y="2305615"/>
            <a:ext cx="116103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У нас был направленный граф, который связывает продукты по их </a:t>
            </a:r>
            <a:r>
              <a:rPr lang="ru-RU" sz="2800" dirty="0" err="1"/>
              <a:t>id</a:t>
            </a:r>
            <a:r>
              <a:rPr lang="ru-RU" sz="2800" dirty="0"/>
              <a:t> в виде </a:t>
            </a:r>
            <a:r>
              <a:rPr lang="en-US" sz="2800" dirty="0"/>
              <a:t>“</a:t>
            </a:r>
            <a:r>
              <a:rPr lang="ru-RU" sz="2800" dirty="0"/>
              <a:t>1 часто покупают вместе с 2</a:t>
            </a:r>
            <a:r>
              <a:rPr lang="en-US" sz="2800" dirty="0"/>
              <a:t>” </a:t>
            </a:r>
            <a:r>
              <a:rPr lang="ru-RU" sz="2800" dirty="0"/>
              <a:t>и данные о продуктах в интернет-магазине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Группы товаров</a:t>
            </a:r>
            <a:r>
              <a:rPr lang="en-US" sz="2800" dirty="0"/>
              <a:t>: </a:t>
            </a:r>
            <a:r>
              <a:rPr lang="ru-RU" sz="2800" dirty="0"/>
              <a:t>Книги, музыка, видео, </a:t>
            </a:r>
            <a:r>
              <a:rPr lang="en-US" sz="2800" dirty="0"/>
              <a:t>DVD, </a:t>
            </a:r>
            <a:r>
              <a:rPr lang="ru-RU" sz="2800" dirty="0"/>
              <a:t>программное обеспечение, игрушки, детские товары, видеоигры и</a:t>
            </a:r>
            <a:r>
              <a:rPr lang="en-US" sz="2800" dirty="0"/>
              <a:t> CE</a:t>
            </a: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956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0236" y="162356"/>
            <a:ext cx="1024419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625"/>
              </a:lnSpc>
            </a:pPr>
            <a:r>
              <a:rPr lang="en-US" sz="3400" b="1" dirty="0">
                <a:solidFill>
                  <a:srgbClr val="2B1BFC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rben" pitchFamily="34" charset="-120"/>
              </a:rPr>
              <a:t>Распаковка данных: от хаоса к системе</a:t>
            </a:r>
            <a:endParaRPr lang="en-US" sz="3400" b="1" dirty="0">
              <a:solidFill>
                <a:srgbClr val="2B1BFC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938" y="6088063"/>
            <a:ext cx="189706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object 3"/>
          <p:cNvGrpSpPr/>
          <p:nvPr/>
        </p:nvGrpSpPr>
        <p:grpSpPr>
          <a:xfrm>
            <a:off x="825917" y="1421148"/>
            <a:ext cx="4582583" cy="3482453"/>
            <a:chOff x="527304" y="1252727"/>
            <a:chExt cx="5499100" cy="3514471"/>
          </a:xfrm>
        </p:grpSpPr>
        <p:sp>
          <p:nvSpPr>
            <p:cNvPr id="13" name="object 4"/>
            <p:cNvSpPr/>
            <p:nvPr/>
          </p:nvSpPr>
          <p:spPr>
            <a:xfrm>
              <a:off x="527304" y="1252727"/>
              <a:ext cx="5499100" cy="1877695"/>
            </a:xfrm>
            <a:custGeom>
              <a:avLst/>
              <a:gdLst/>
              <a:ahLst/>
              <a:cxnLst/>
              <a:rect l="l" t="t" r="r" b="b"/>
              <a:pathLst>
                <a:path w="5499100" h="1877695">
                  <a:moveTo>
                    <a:pt x="5498591" y="1877567"/>
                  </a:moveTo>
                  <a:lnTo>
                    <a:pt x="0" y="1877567"/>
                  </a:lnTo>
                  <a:lnTo>
                    <a:pt x="0" y="0"/>
                  </a:lnTo>
                  <a:lnTo>
                    <a:pt x="5498591" y="0"/>
                  </a:lnTo>
                  <a:lnTo>
                    <a:pt x="5498591" y="52196"/>
                  </a:lnTo>
                  <a:lnTo>
                    <a:pt x="158495" y="52196"/>
                  </a:lnTo>
                  <a:lnTo>
                    <a:pt x="151927" y="52514"/>
                  </a:lnTo>
                  <a:lnTo>
                    <a:pt x="116218" y="67305"/>
                  </a:lnTo>
                  <a:lnTo>
                    <a:pt x="94675" y="99545"/>
                  </a:lnTo>
                  <a:lnTo>
                    <a:pt x="91820" y="118871"/>
                  </a:lnTo>
                  <a:lnTo>
                    <a:pt x="91820" y="1680971"/>
                  </a:lnTo>
                  <a:lnTo>
                    <a:pt x="103047" y="1718021"/>
                  </a:lnTo>
                  <a:lnTo>
                    <a:pt x="132980" y="1742571"/>
                  </a:lnTo>
                  <a:lnTo>
                    <a:pt x="158495" y="1747646"/>
                  </a:lnTo>
                  <a:lnTo>
                    <a:pt x="5498591" y="1747646"/>
                  </a:lnTo>
                  <a:lnTo>
                    <a:pt x="5498591" y="1877567"/>
                  </a:lnTo>
                  <a:close/>
                </a:path>
                <a:path w="5499100" h="1877695">
                  <a:moveTo>
                    <a:pt x="5498591" y="1747646"/>
                  </a:moveTo>
                  <a:lnTo>
                    <a:pt x="5340095" y="1747646"/>
                  </a:lnTo>
                  <a:lnTo>
                    <a:pt x="5346663" y="1747329"/>
                  </a:lnTo>
                  <a:lnTo>
                    <a:pt x="5353105" y="1746377"/>
                  </a:lnTo>
                  <a:lnTo>
                    <a:pt x="5387241" y="1728118"/>
                  </a:lnTo>
                  <a:lnTo>
                    <a:pt x="5405501" y="1693981"/>
                  </a:lnTo>
                  <a:lnTo>
                    <a:pt x="5406770" y="1680971"/>
                  </a:lnTo>
                  <a:lnTo>
                    <a:pt x="5406770" y="118871"/>
                  </a:lnTo>
                  <a:lnTo>
                    <a:pt x="5395543" y="81822"/>
                  </a:lnTo>
                  <a:lnTo>
                    <a:pt x="5365610" y="57272"/>
                  </a:lnTo>
                  <a:lnTo>
                    <a:pt x="5340095" y="52196"/>
                  </a:lnTo>
                  <a:lnTo>
                    <a:pt x="5498591" y="52196"/>
                  </a:lnTo>
                  <a:lnTo>
                    <a:pt x="5498591" y="174764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4" name="object 5"/>
            <p:cNvSpPr/>
            <p:nvPr/>
          </p:nvSpPr>
          <p:spPr>
            <a:xfrm>
              <a:off x="609599" y="1295399"/>
              <a:ext cx="5334000" cy="1714500"/>
            </a:xfrm>
            <a:custGeom>
              <a:avLst/>
              <a:gdLst/>
              <a:ahLst/>
              <a:cxnLst/>
              <a:rect l="l" t="t" r="r" b="b"/>
              <a:pathLst>
                <a:path w="5334000" h="1714500">
                  <a:moveTo>
                    <a:pt x="5262802" y="1714499"/>
                  </a:moveTo>
                  <a:lnTo>
                    <a:pt x="71196" y="1714499"/>
                  </a:lnTo>
                  <a:lnTo>
                    <a:pt x="66241" y="1714011"/>
                  </a:lnTo>
                  <a:lnTo>
                    <a:pt x="29705" y="1698877"/>
                  </a:lnTo>
                  <a:lnTo>
                    <a:pt x="3885" y="1662837"/>
                  </a:lnTo>
                  <a:lnTo>
                    <a:pt x="0" y="1643303"/>
                  </a:lnTo>
                  <a:lnTo>
                    <a:pt x="0" y="1638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262802" y="0"/>
                  </a:lnTo>
                  <a:lnTo>
                    <a:pt x="5304293" y="15621"/>
                  </a:lnTo>
                  <a:lnTo>
                    <a:pt x="5330113" y="51661"/>
                  </a:lnTo>
                  <a:lnTo>
                    <a:pt x="5333999" y="71196"/>
                  </a:lnTo>
                  <a:lnTo>
                    <a:pt x="5333999" y="1643303"/>
                  </a:lnTo>
                  <a:lnTo>
                    <a:pt x="5318377" y="1684794"/>
                  </a:lnTo>
                  <a:lnTo>
                    <a:pt x="5282337" y="1710613"/>
                  </a:lnTo>
                  <a:lnTo>
                    <a:pt x="5267757" y="1714011"/>
                  </a:lnTo>
                  <a:lnTo>
                    <a:pt x="5262802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5" name="object 6"/>
            <p:cNvSpPr/>
            <p:nvPr/>
          </p:nvSpPr>
          <p:spPr>
            <a:xfrm>
              <a:off x="527304" y="3194303"/>
              <a:ext cx="5499100" cy="1572895"/>
            </a:xfrm>
            <a:custGeom>
              <a:avLst/>
              <a:gdLst/>
              <a:ahLst/>
              <a:cxnLst/>
              <a:rect l="l" t="t" r="r" b="b"/>
              <a:pathLst>
                <a:path w="5499100" h="1572895">
                  <a:moveTo>
                    <a:pt x="5498591" y="1572767"/>
                  </a:moveTo>
                  <a:lnTo>
                    <a:pt x="0" y="1572767"/>
                  </a:lnTo>
                  <a:lnTo>
                    <a:pt x="0" y="0"/>
                  </a:lnTo>
                  <a:lnTo>
                    <a:pt x="5498591" y="0"/>
                  </a:lnTo>
                  <a:lnTo>
                    <a:pt x="5498591" y="53720"/>
                  </a:lnTo>
                  <a:lnTo>
                    <a:pt x="158495" y="53720"/>
                  </a:lnTo>
                  <a:lnTo>
                    <a:pt x="151927" y="54038"/>
                  </a:lnTo>
                  <a:lnTo>
                    <a:pt x="116218" y="68829"/>
                  </a:lnTo>
                  <a:lnTo>
                    <a:pt x="94675" y="101069"/>
                  </a:lnTo>
                  <a:lnTo>
                    <a:pt x="91820" y="120395"/>
                  </a:lnTo>
                  <a:lnTo>
                    <a:pt x="91820" y="1377695"/>
                  </a:lnTo>
                  <a:lnTo>
                    <a:pt x="103047" y="1414745"/>
                  </a:lnTo>
                  <a:lnTo>
                    <a:pt x="132980" y="1439294"/>
                  </a:lnTo>
                  <a:lnTo>
                    <a:pt x="158495" y="1444370"/>
                  </a:lnTo>
                  <a:lnTo>
                    <a:pt x="5498591" y="1444370"/>
                  </a:lnTo>
                  <a:lnTo>
                    <a:pt x="5498591" y="1572767"/>
                  </a:lnTo>
                  <a:close/>
                </a:path>
                <a:path w="5499100" h="1572895">
                  <a:moveTo>
                    <a:pt x="5498591" y="1444370"/>
                  </a:moveTo>
                  <a:lnTo>
                    <a:pt x="5340095" y="1444370"/>
                  </a:lnTo>
                  <a:lnTo>
                    <a:pt x="5346663" y="1444053"/>
                  </a:lnTo>
                  <a:lnTo>
                    <a:pt x="5353105" y="1443101"/>
                  </a:lnTo>
                  <a:lnTo>
                    <a:pt x="5387241" y="1424842"/>
                  </a:lnTo>
                  <a:lnTo>
                    <a:pt x="5405501" y="1390705"/>
                  </a:lnTo>
                  <a:lnTo>
                    <a:pt x="5406770" y="1377695"/>
                  </a:lnTo>
                  <a:lnTo>
                    <a:pt x="5406770" y="120395"/>
                  </a:lnTo>
                  <a:lnTo>
                    <a:pt x="5395543" y="83346"/>
                  </a:lnTo>
                  <a:lnTo>
                    <a:pt x="5365610" y="58796"/>
                  </a:lnTo>
                  <a:lnTo>
                    <a:pt x="5340095" y="53720"/>
                  </a:lnTo>
                  <a:lnTo>
                    <a:pt x="5498591" y="53720"/>
                  </a:lnTo>
                  <a:lnTo>
                    <a:pt x="5498591" y="144437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6" name="object 7"/>
            <p:cNvSpPr/>
            <p:nvPr/>
          </p:nvSpPr>
          <p:spPr>
            <a:xfrm>
              <a:off x="609599" y="3238500"/>
              <a:ext cx="5334000" cy="1409700"/>
            </a:xfrm>
            <a:custGeom>
              <a:avLst/>
              <a:gdLst/>
              <a:ahLst/>
              <a:cxnLst/>
              <a:rect l="l" t="t" r="r" b="b"/>
              <a:pathLst>
                <a:path w="5334000" h="1409700">
                  <a:moveTo>
                    <a:pt x="5262802" y="1409699"/>
                  </a:moveTo>
                  <a:lnTo>
                    <a:pt x="71196" y="1409699"/>
                  </a:lnTo>
                  <a:lnTo>
                    <a:pt x="66241" y="1409211"/>
                  </a:lnTo>
                  <a:lnTo>
                    <a:pt x="29705" y="1394077"/>
                  </a:lnTo>
                  <a:lnTo>
                    <a:pt x="3885" y="1358037"/>
                  </a:lnTo>
                  <a:lnTo>
                    <a:pt x="0" y="1338502"/>
                  </a:lnTo>
                  <a:lnTo>
                    <a:pt x="0" y="1333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262802" y="0"/>
                  </a:lnTo>
                  <a:lnTo>
                    <a:pt x="5304293" y="15621"/>
                  </a:lnTo>
                  <a:lnTo>
                    <a:pt x="5330113" y="51661"/>
                  </a:lnTo>
                  <a:lnTo>
                    <a:pt x="5333999" y="71196"/>
                  </a:lnTo>
                  <a:lnTo>
                    <a:pt x="5333999" y="1338502"/>
                  </a:lnTo>
                  <a:lnTo>
                    <a:pt x="5318377" y="1379993"/>
                  </a:lnTo>
                  <a:lnTo>
                    <a:pt x="5282337" y="1405813"/>
                  </a:lnTo>
                  <a:lnTo>
                    <a:pt x="5267757" y="1409211"/>
                  </a:lnTo>
                  <a:lnTo>
                    <a:pt x="5262802" y="1409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bject 8"/>
          <p:cNvSpPr txBox="1"/>
          <p:nvPr/>
        </p:nvSpPr>
        <p:spPr>
          <a:xfrm>
            <a:off x="1046461" y="1609822"/>
            <a:ext cx="1740958" cy="260649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248698" indent="-238115" defTabSz="761970">
              <a:spcBef>
                <a:spcPts val="112"/>
              </a:spcBef>
              <a:buClr>
                <a:prstClr val="black"/>
              </a:buClr>
              <a:buFont typeface="Wingdings" panose="05000000000000000000" pitchFamily="2" charset="2"/>
              <a:buChar char="q"/>
              <a:tabLst>
                <a:tab pos="256636" algn="l"/>
              </a:tabLst>
            </a:pPr>
            <a:r>
              <a:rPr lang="ru-RU" sz="1600" b="1" kern="0" dirty="0">
                <a:solidFill>
                  <a:srgbClr val="1F2937"/>
                </a:solidFill>
                <a:latin typeface="Liberation Sans"/>
                <a:cs typeface="Liberation Sans"/>
              </a:rPr>
              <a:t>Что сделано</a:t>
            </a:r>
            <a:endParaRPr sz="1600"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18" name="object 9"/>
          <p:cNvSpPr txBox="1"/>
          <p:nvPr/>
        </p:nvSpPr>
        <p:spPr>
          <a:xfrm>
            <a:off x="961926" y="1918174"/>
            <a:ext cx="3654954" cy="1216145"/>
          </a:xfrm>
          <a:prstGeom prst="rect">
            <a:avLst/>
          </a:prstGeom>
        </p:spPr>
        <p:txBody>
          <a:bodyPr vert="horz" wrap="square" lIns="0" tIns="86783" rIns="0" bIns="0" rtlCol="0">
            <a:spAutoFit/>
          </a:bodyPr>
          <a:lstStyle/>
          <a:p>
            <a:pPr marL="184672" indent="-174089" defTabSz="761970">
              <a:spcBef>
                <a:spcPts val="682"/>
              </a:spcBef>
              <a:buClr>
                <a:srgbClr val="0FB981"/>
              </a:buClr>
              <a:buSzPct val="112500"/>
              <a:buFont typeface="BIZ UDPGothic"/>
              <a:buChar char="✓"/>
              <a:tabLst>
                <a:tab pos="184672" algn="l"/>
              </a:tabLst>
            </a:pPr>
            <a:r>
              <a:rPr lang="ru-RU" kern="0" baseline="2314" dirty="0">
                <a:solidFill>
                  <a:srgbClr val="4A5462"/>
                </a:solidFill>
                <a:latin typeface="Liberation Sans"/>
                <a:cs typeface="Liberation Sans"/>
              </a:rPr>
              <a:t>Полученные данные: продукты, отзывы, категории, связи.</a:t>
            </a:r>
          </a:p>
          <a:p>
            <a:pPr marL="184672" indent="-174089" defTabSz="761970">
              <a:spcBef>
                <a:spcPts val="800"/>
              </a:spcBef>
              <a:buClr>
                <a:srgbClr val="0FB981"/>
              </a:buClr>
              <a:buSzPct val="112500"/>
              <a:buFont typeface="BIZ UDPGothic"/>
              <a:buChar char="✓"/>
              <a:tabLst>
                <a:tab pos="184672" algn="l"/>
              </a:tabLst>
            </a:pPr>
            <a:r>
              <a:rPr lang="ru-RU" kern="0" baseline="2314" dirty="0">
                <a:solidFill>
                  <a:srgbClr val="4A5462"/>
                </a:solidFill>
                <a:latin typeface="Liberation Sans"/>
                <a:cs typeface="Liberation Sans"/>
              </a:rPr>
              <a:t>Полученные таблицы: характеристики, отзывы, товары, категории.</a:t>
            </a:r>
          </a:p>
          <a:p>
            <a:pPr marL="184672" indent="-174089" defTabSz="761970">
              <a:spcBef>
                <a:spcPts val="800"/>
              </a:spcBef>
              <a:buClr>
                <a:srgbClr val="0FB981"/>
              </a:buClr>
              <a:buSzPct val="112500"/>
              <a:buFont typeface="BIZ UDPGothic"/>
              <a:buChar char="✓"/>
              <a:tabLst>
                <a:tab pos="184672" algn="l"/>
              </a:tabLst>
            </a:pPr>
            <a:r>
              <a:rPr lang="ru-RU" kern="0" baseline="2314" dirty="0">
                <a:solidFill>
                  <a:srgbClr val="4A5462"/>
                </a:solidFill>
                <a:latin typeface="Liberation Sans"/>
                <a:cs typeface="Liberation Sans"/>
              </a:rPr>
              <a:t>Структура: ясные связи между данными.</a:t>
            </a:r>
          </a:p>
        </p:txBody>
      </p:sp>
      <p:sp>
        <p:nvSpPr>
          <p:cNvPr id="19" name="object 10"/>
          <p:cNvSpPr txBox="1"/>
          <p:nvPr/>
        </p:nvSpPr>
        <p:spPr>
          <a:xfrm>
            <a:off x="1004789" y="3509464"/>
            <a:ext cx="3181878" cy="1332737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248698" indent="-238115" defTabSz="761970">
              <a:spcBef>
                <a:spcPts val="112"/>
              </a:spcBef>
              <a:buClr>
                <a:prstClr val="black"/>
              </a:buClr>
              <a:buFont typeface="Wingdings" panose="05000000000000000000" pitchFamily="2" charset="2"/>
              <a:buChar char="q"/>
              <a:tabLst>
                <a:tab pos="237057" algn="l"/>
              </a:tabLst>
            </a:pPr>
            <a:r>
              <a:rPr lang="ru-RU" sz="1600" b="1" kern="0" dirty="0">
                <a:solidFill>
                  <a:srgbClr val="1F2937"/>
                </a:solidFill>
                <a:latin typeface="Liberation Sans"/>
                <a:cs typeface="Liberation Sans"/>
              </a:rPr>
              <a:t>Почему так</a:t>
            </a:r>
            <a:br>
              <a:rPr lang="ru-RU" b="1" kern="0" dirty="0">
                <a:solidFill>
                  <a:srgbClr val="1F2937"/>
                </a:solidFill>
                <a:latin typeface="Liberation Sans"/>
                <a:cs typeface="Liberation Sans"/>
              </a:rPr>
            </a:br>
            <a:endParaRPr lang="ru-RU" b="1" kern="0" dirty="0">
              <a:solidFill>
                <a:srgbClr val="1F2937"/>
              </a:solidFill>
              <a:latin typeface="Liberation Sans"/>
              <a:cs typeface="Liberation Sans"/>
            </a:endParaRPr>
          </a:p>
          <a:p>
            <a:pPr marL="248698" indent="-238115" defTabSz="761970">
              <a:spcBef>
                <a:spcPts val="112"/>
              </a:spcBef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237057" algn="l"/>
              </a:tabLst>
            </a:pPr>
            <a:r>
              <a:rPr lang="ru-RU" kern="0" baseline="2314" dirty="0">
                <a:solidFill>
                  <a:srgbClr val="4A5462"/>
                </a:solidFill>
                <a:latin typeface="Liberation Sans"/>
                <a:cs typeface="Liberation Sans"/>
              </a:rPr>
              <a:t>Упрощение анализа: метрики разделены, шум снижен</a:t>
            </a:r>
          </a:p>
          <a:p>
            <a:pPr marL="248698" indent="-238115" defTabSz="761970">
              <a:spcBef>
                <a:spcPts val="112"/>
              </a:spcBef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237057" algn="l"/>
              </a:tabLst>
            </a:pPr>
            <a:r>
              <a:rPr lang="ru-RU" kern="0" baseline="2314" dirty="0">
                <a:solidFill>
                  <a:srgbClr val="4A5462"/>
                </a:solidFill>
                <a:latin typeface="Liberation Sans"/>
                <a:cs typeface="Liberation Sans"/>
              </a:rPr>
              <a:t>Повышение точности: фокус на ключевых аспектах.</a:t>
            </a:r>
          </a:p>
        </p:txBody>
      </p:sp>
      <p:grpSp>
        <p:nvGrpSpPr>
          <p:cNvPr id="20" name="object 11"/>
          <p:cNvGrpSpPr/>
          <p:nvPr/>
        </p:nvGrpSpPr>
        <p:grpSpPr>
          <a:xfrm>
            <a:off x="6642334" y="1421148"/>
            <a:ext cx="4930609" cy="3364538"/>
            <a:chOff x="6166103" y="1252727"/>
            <a:chExt cx="5499100" cy="3514725"/>
          </a:xfrm>
        </p:grpSpPr>
        <p:sp>
          <p:nvSpPr>
            <p:cNvPr id="21" name="object 12"/>
            <p:cNvSpPr/>
            <p:nvPr/>
          </p:nvSpPr>
          <p:spPr>
            <a:xfrm>
              <a:off x="6166103" y="1252727"/>
              <a:ext cx="5499100" cy="3514725"/>
            </a:xfrm>
            <a:custGeom>
              <a:avLst/>
              <a:gdLst/>
              <a:ahLst/>
              <a:cxnLst/>
              <a:rect l="l" t="t" r="r" b="b"/>
              <a:pathLst>
                <a:path w="5499100" h="3514725">
                  <a:moveTo>
                    <a:pt x="5498591" y="3514343"/>
                  </a:moveTo>
                  <a:lnTo>
                    <a:pt x="0" y="3514343"/>
                  </a:lnTo>
                  <a:lnTo>
                    <a:pt x="0" y="0"/>
                  </a:lnTo>
                  <a:lnTo>
                    <a:pt x="5498591" y="0"/>
                  </a:lnTo>
                  <a:lnTo>
                    <a:pt x="5498591" y="52196"/>
                  </a:lnTo>
                  <a:lnTo>
                    <a:pt x="158495" y="52196"/>
                  </a:lnTo>
                  <a:lnTo>
                    <a:pt x="151927" y="52514"/>
                  </a:lnTo>
                  <a:lnTo>
                    <a:pt x="116217" y="67305"/>
                  </a:lnTo>
                  <a:lnTo>
                    <a:pt x="94674" y="99545"/>
                  </a:lnTo>
                  <a:lnTo>
                    <a:pt x="91820" y="118871"/>
                  </a:lnTo>
                  <a:lnTo>
                    <a:pt x="91820" y="3319271"/>
                  </a:lnTo>
                  <a:lnTo>
                    <a:pt x="103046" y="3356321"/>
                  </a:lnTo>
                  <a:lnTo>
                    <a:pt x="132980" y="3380870"/>
                  </a:lnTo>
                  <a:lnTo>
                    <a:pt x="158495" y="3385946"/>
                  </a:lnTo>
                  <a:lnTo>
                    <a:pt x="5498591" y="3385946"/>
                  </a:lnTo>
                  <a:lnTo>
                    <a:pt x="5498591" y="3514343"/>
                  </a:lnTo>
                  <a:close/>
                </a:path>
                <a:path w="5499100" h="3514725">
                  <a:moveTo>
                    <a:pt x="5498591" y="3385946"/>
                  </a:moveTo>
                  <a:lnTo>
                    <a:pt x="5340095" y="3385946"/>
                  </a:lnTo>
                  <a:lnTo>
                    <a:pt x="5346663" y="3385629"/>
                  </a:lnTo>
                  <a:lnTo>
                    <a:pt x="5353104" y="3384677"/>
                  </a:lnTo>
                  <a:lnTo>
                    <a:pt x="5387240" y="3366418"/>
                  </a:lnTo>
                  <a:lnTo>
                    <a:pt x="5405501" y="3332281"/>
                  </a:lnTo>
                  <a:lnTo>
                    <a:pt x="5406770" y="3319271"/>
                  </a:lnTo>
                  <a:lnTo>
                    <a:pt x="5406770" y="118871"/>
                  </a:lnTo>
                  <a:lnTo>
                    <a:pt x="5395542" y="81822"/>
                  </a:lnTo>
                  <a:lnTo>
                    <a:pt x="5365609" y="57272"/>
                  </a:lnTo>
                  <a:lnTo>
                    <a:pt x="5340095" y="52196"/>
                  </a:lnTo>
                  <a:lnTo>
                    <a:pt x="5498591" y="52196"/>
                  </a:lnTo>
                  <a:lnTo>
                    <a:pt x="5498591" y="338594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22" name="object 13"/>
            <p:cNvSpPr/>
            <p:nvPr/>
          </p:nvSpPr>
          <p:spPr>
            <a:xfrm>
              <a:off x="6248398" y="1295399"/>
              <a:ext cx="5334000" cy="3352800"/>
            </a:xfrm>
            <a:custGeom>
              <a:avLst/>
              <a:gdLst/>
              <a:ahLst/>
              <a:cxnLst/>
              <a:rect l="l" t="t" r="r" b="b"/>
              <a:pathLst>
                <a:path w="5334000" h="3352800">
                  <a:moveTo>
                    <a:pt x="5262803" y="3352799"/>
                  </a:moveTo>
                  <a:lnTo>
                    <a:pt x="71196" y="3352799"/>
                  </a:lnTo>
                  <a:lnTo>
                    <a:pt x="66241" y="3352311"/>
                  </a:lnTo>
                  <a:lnTo>
                    <a:pt x="29705" y="3337177"/>
                  </a:lnTo>
                  <a:lnTo>
                    <a:pt x="3885" y="3301137"/>
                  </a:lnTo>
                  <a:lnTo>
                    <a:pt x="0" y="3281602"/>
                  </a:lnTo>
                  <a:lnTo>
                    <a:pt x="0" y="3276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262803" y="0"/>
                  </a:lnTo>
                  <a:lnTo>
                    <a:pt x="5304292" y="15621"/>
                  </a:lnTo>
                  <a:lnTo>
                    <a:pt x="5330112" y="51661"/>
                  </a:lnTo>
                  <a:lnTo>
                    <a:pt x="5333999" y="71196"/>
                  </a:lnTo>
                  <a:lnTo>
                    <a:pt x="5333999" y="3281602"/>
                  </a:lnTo>
                  <a:lnTo>
                    <a:pt x="5318376" y="3323094"/>
                  </a:lnTo>
                  <a:lnTo>
                    <a:pt x="5282337" y="3348913"/>
                  </a:lnTo>
                  <a:lnTo>
                    <a:pt x="5267757" y="3352311"/>
                  </a:lnTo>
                  <a:lnTo>
                    <a:pt x="5262803" y="3352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</p:grpSp>
      <p:sp>
        <p:nvSpPr>
          <p:cNvPr id="23" name="object 14"/>
          <p:cNvSpPr txBox="1"/>
          <p:nvPr/>
        </p:nvSpPr>
        <p:spPr>
          <a:xfrm>
            <a:off x="7154994" y="1682694"/>
            <a:ext cx="2416438" cy="291426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10583" defTabSz="761970">
              <a:spcBef>
                <a:spcPts val="112"/>
              </a:spcBef>
              <a:tabLst>
                <a:tab pos="276743" algn="l"/>
              </a:tabLst>
            </a:pPr>
            <a:r>
              <a:rPr lang="ru-RU" b="1" kern="0" dirty="0">
                <a:solidFill>
                  <a:srgbClr val="1F2937"/>
                </a:solidFill>
                <a:latin typeface="Liberation Sans"/>
                <a:cs typeface="Liberation Sans"/>
              </a:rPr>
              <a:t>Полученные фалы</a:t>
            </a:r>
            <a:endParaRPr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24" name="object 15"/>
          <p:cNvSpPr/>
          <p:nvPr/>
        </p:nvSpPr>
        <p:spPr>
          <a:xfrm>
            <a:off x="7065698" y="2037910"/>
            <a:ext cx="1968500" cy="627063"/>
          </a:xfrm>
          <a:custGeom>
            <a:avLst/>
            <a:gdLst/>
            <a:ahLst/>
            <a:cxnLst/>
            <a:rect l="l" t="t" r="r" b="b"/>
            <a:pathLst>
              <a:path w="2362200" h="752475">
                <a:moveTo>
                  <a:pt x="2291003" y="752474"/>
                </a:moveTo>
                <a:lnTo>
                  <a:pt x="71196" y="752474"/>
                </a:lnTo>
                <a:lnTo>
                  <a:pt x="66240" y="751986"/>
                </a:lnTo>
                <a:lnTo>
                  <a:pt x="29705" y="736852"/>
                </a:lnTo>
                <a:lnTo>
                  <a:pt x="3885" y="700812"/>
                </a:lnTo>
                <a:lnTo>
                  <a:pt x="0" y="681278"/>
                </a:lnTo>
                <a:lnTo>
                  <a:pt x="0" y="67627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291003" y="0"/>
                </a:lnTo>
                <a:lnTo>
                  <a:pt x="2332494" y="15621"/>
                </a:lnTo>
                <a:lnTo>
                  <a:pt x="2358312" y="51661"/>
                </a:lnTo>
                <a:lnTo>
                  <a:pt x="2362199" y="71196"/>
                </a:lnTo>
                <a:lnTo>
                  <a:pt x="2362199" y="681278"/>
                </a:lnTo>
                <a:lnTo>
                  <a:pt x="2346576" y="722768"/>
                </a:lnTo>
                <a:lnTo>
                  <a:pt x="2310536" y="748588"/>
                </a:lnTo>
                <a:lnTo>
                  <a:pt x="2295957" y="751986"/>
                </a:lnTo>
                <a:lnTo>
                  <a:pt x="2291003" y="75247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pPr defTabSz="761970">
              <a:defRPr/>
            </a:pPr>
            <a:endParaRPr sz="1500" kern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25" name="object 15"/>
          <p:cNvSpPr/>
          <p:nvPr/>
        </p:nvSpPr>
        <p:spPr>
          <a:xfrm>
            <a:off x="7065698" y="2999688"/>
            <a:ext cx="1968500" cy="627063"/>
          </a:xfrm>
          <a:custGeom>
            <a:avLst/>
            <a:gdLst/>
            <a:ahLst/>
            <a:cxnLst/>
            <a:rect l="l" t="t" r="r" b="b"/>
            <a:pathLst>
              <a:path w="2362200" h="752475">
                <a:moveTo>
                  <a:pt x="2291003" y="752474"/>
                </a:moveTo>
                <a:lnTo>
                  <a:pt x="71196" y="752474"/>
                </a:lnTo>
                <a:lnTo>
                  <a:pt x="66240" y="751986"/>
                </a:lnTo>
                <a:lnTo>
                  <a:pt x="29705" y="736852"/>
                </a:lnTo>
                <a:lnTo>
                  <a:pt x="3885" y="700812"/>
                </a:lnTo>
                <a:lnTo>
                  <a:pt x="0" y="681278"/>
                </a:lnTo>
                <a:lnTo>
                  <a:pt x="0" y="67627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291003" y="0"/>
                </a:lnTo>
                <a:lnTo>
                  <a:pt x="2332494" y="15621"/>
                </a:lnTo>
                <a:lnTo>
                  <a:pt x="2358312" y="51661"/>
                </a:lnTo>
                <a:lnTo>
                  <a:pt x="2362199" y="71196"/>
                </a:lnTo>
                <a:lnTo>
                  <a:pt x="2362199" y="681278"/>
                </a:lnTo>
                <a:lnTo>
                  <a:pt x="2346576" y="722768"/>
                </a:lnTo>
                <a:lnTo>
                  <a:pt x="2310536" y="748588"/>
                </a:lnTo>
                <a:lnTo>
                  <a:pt x="2295957" y="751986"/>
                </a:lnTo>
                <a:lnTo>
                  <a:pt x="2291003" y="75247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pPr defTabSz="761970">
              <a:defRPr/>
            </a:pPr>
            <a:endParaRPr sz="1500" kern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26" name="object 15"/>
          <p:cNvSpPr/>
          <p:nvPr/>
        </p:nvSpPr>
        <p:spPr>
          <a:xfrm>
            <a:off x="9465866" y="1999339"/>
            <a:ext cx="1968500" cy="627063"/>
          </a:xfrm>
          <a:custGeom>
            <a:avLst/>
            <a:gdLst/>
            <a:ahLst/>
            <a:cxnLst/>
            <a:rect l="l" t="t" r="r" b="b"/>
            <a:pathLst>
              <a:path w="2362200" h="752475">
                <a:moveTo>
                  <a:pt x="2291003" y="752474"/>
                </a:moveTo>
                <a:lnTo>
                  <a:pt x="71196" y="752474"/>
                </a:lnTo>
                <a:lnTo>
                  <a:pt x="66240" y="751986"/>
                </a:lnTo>
                <a:lnTo>
                  <a:pt x="29705" y="736852"/>
                </a:lnTo>
                <a:lnTo>
                  <a:pt x="3885" y="700812"/>
                </a:lnTo>
                <a:lnTo>
                  <a:pt x="0" y="681278"/>
                </a:lnTo>
                <a:lnTo>
                  <a:pt x="0" y="67627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291003" y="0"/>
                </a:lnTo>
                <a:lnTo>
                  <a:pt x="2332494" y="15621"/>
                </a:lnTo>
                <a:lnTo>
                  <a:pt x="2358312" y="51661"/>
                </a:lnTo>
                <a:lnTo>
                  <a:pt x="2362199" y="71196"/>
                </a:lnTo>
                <a:lnTo>
                  <a:pt x="2362199" y="681278"/>
                </a:lnTo>
                <a:lnTo>
                  <a:pt x="2346576" y="722768"/>
                </a:lnTo>
                <a:lnTo>
                  <a:pt x="2310536" y="748588"/>
                </a:lnTo>
                <a:lnTo>
                  <a:pt x="2295957" y="751986"/>
                </a:lnTo>
                <a:lnTo>
                  <a:pt x="2291003" y="75247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pPr defTabSz="761970"/>
            <a:endParaRPr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object 15"/>
          <p:cNvSpPr/>
          <p:nvPr/>
        </p:nvSpPr>
        <p:spPr>
          <a:xfrm>
            <a:off x="9465866" y="2978436"/>
            <a:ext cx="1968500" cy="627063"/>
          </a:xfrm>
          <a:custGeom>
            <a:avLst/>
            <a:gdLst/>
            <a:ahLst/>
            <a:cxnLst/>
            <a:rect l="l" t="t" r="r" b="b"/>
            <a:pathLst>
              <a:path w="2362200" h="752475">
                <a:moveTo>
                  <a:pt x="2291003" y="752474"/>
                </a:moveTo>
                <a:lnTo>
                  <a:pt x="71196" y="752474"/>
                </a:lnTo>
                <a:lnTo>
                  <a:pt x="66240" y="751986"/>
                </a:lnTo>
                <a:lnTo>
                  <a:pt x="29705" y="736852"/>
                </a:lnTo>
                <a:lnTo>
                  <a:pt x="3885" y="700812"/>
                </a:lnTo>
                <a:lnTo>
                  <a:pt x="0" y="681278"/>
                </a:lnTo>
                <a:lnTo>
                  <a:pt x="0" y="676274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291003" y="0"/>
                </a:lnTo>
                <a:lnTo>
                  <a:pt x="2332494" y="15621"/>
                </a:lnTo>
                <a:lnTo>
                  <a:pt x="2358312" y="51661"/>
                </a:lnTo>
                <a:lnTo>
                  <a:pt x="2362199" y="71196"/>
                </a:lnTo>
                <a:lnTo>
                  <a:pt x="2362199" y="681278"/>
                </a:lnTo>
                <a:lnTo>
                  <a:pt x="2346576" y="722768"/>
                </a:lnTo>
                <a:lnTo>
                  <a:pt x="2310536" y="748588"/>
                </a:lnTo>
                <a:lnTo>
                  <a:pt x="2295957" y="751986"/>
                </a:lnTo>
                <a:lnTo>
                  <a:pt x="2291003" y="752474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lstStyle/>
          <a:p>
            <a:pPr defTabSz="761970">
              <a:defRPr/>
            </a:pPr>
            <a:endParaRPr sz="1500" kern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28" name="object 16"/>
          <p:cNvSpPr txBox="1"/>
          <p:nvPr/>
        </p:nvSpPr>
        <p:spPr>
          <a:xfrm>
            <a:off x="7192034" y="2183028"/>
            <a:ext cx="1842163" cy="3635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583" defTabSz="761970">
              <a:spcBef>
                <a:spcPts val="675"/>
              </a:spcBef>
            </a:pPr>
            <a:r>
              <a:rPr sz="1125" kern="0" spc="158" dirty="0">
                <a:solidFill>
                  <a:srgbClr val="9CA2AF"/>
                </a:solidFill>
                <a:latin typeface="Arial Black"/>
                <a:cs typeface="Arial Black"/>
              </a:rPr>
              <a:t></a:t>
            </a:r>
            <a:r>
              <a:rPr kern="0" spc="-8" dirty="0">
                <a:solidFill>
                  <a:sysClr val="windowText" lastClr="000000"/>
                </a:solidFill>
                <a:latin typeface="Liberation Sans"/>
                <a:cs typeface="Liberation Sans"/>
              </a:rPr>
              <a:t>categories.csv</a:t>
            </a:r>
            <a:endParaRPr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7208736" y="3162311"/>
            <a:ext cx="1616481" cy="3635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583" defTabSz="761970">
              <a:spcBef>
                <a:spcPts val="675"/>
              </a:spcBef>
            </a:pPr>
            <a:r>
              <a:rPr sz="1125" kern="0" spc="158" dirty="0">
                <a:solidFill>
                  <a:srgbClr val="9CA2AF"/>
                </a:solidFill>
                <a:latin typeface="Arial Black"/>
                <a:cs typeface="Arial Black"/>
              </a:rPr>
              <a:t></a:t>
            </a:r>
            <a:r>
              <a:rPr lang="en-US" kern="0" spc="-8" dirty="0">
                <a:solidFill>
                  <a:sysClr val="windowText" lastClr="000000"/>
                </a:solidFill>
                <a:latin typeface="Liberation Sans"/>
                <a:cs typeface="Liberation Sans"/>
              </a:rPr>
              <a:t>products.csv</a:t>
            </a:r>
            <a:endParaRPr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32" name="object 16"/>
          <p:cNvSpPr txBox="1"/>
          <p:nvPr/>
        </p:nvSpPr>
        <p:spPr>
          <a:xfrm>
            <a:off x="9632286" y="2221598"/>
            <a:ext cx="1665218" cy="3635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583" defTabSz="761970">
              <a:spcBef>
                <a:spcPts val="675"/>
              </a:spcBef>
            </a:pPr>
            <a:r>
              <a:rPr sz="1125" kern="0" spc="158" dirty="0">
                <a:solidFill>
                  <a:srgbClr val="9CA2AF"/>
                </a:solidFill>
                <a:latin typeface="Arial Black"/>
                <a:cs typeface="Arial Black"/>
              </a:rPr>
              <a:t></a:t>
            </a:r>
            <a:r>
              <a:rPr lang="en-US" kern="0" spc="-8" dirty="0">
                <a:solidFill>
                  <a:sysClr val="windowText" lastClr="000000"/>
                </a:solidFill>
                <a:latin typeface="Liberation Sans"/>
                <a:cs typeface="Liberation Sans"/>
              </a:rPr>
              <a:t>reviews.csv</a:t>
            </a:r>
            <a:endParaRPr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33" name="object 16"/>
          <p:cNvSpPr txBox="1"/>
          <p:nvPr/>
        </p:nvSpPr>
        <p:spPr>
          <a:xfrm>
            <a:off x="9632286" y="3183375"/>
            <a:ext cx="1424404" cy="3635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583" defTabSz="761970">
              <a:spcBef>
                <a:spcPts val="675"/>
              </a:spcBef>
            </a:pPr>
            <a:r>
              <a:rPr sz="1125" kern="0" spc="158" dirty="0">
                <a:solidFill>
                  <a:srgbClr val="9CA2AF"/>
                </a:solidFill>
                <a:latin typeface="Arial Black"/>
                <a:cs typeface="Arial Black"/>
              </a:rPr>
              <a:t></a:t>
            </a:r>
            <a:r>
              <a:rPr lang="en-US" kern="0" spc="-8" dirty="0">
                <a:solidFill>
                  <a:sysClr val="windowText" lastClr="000000"/>
                </a:solidFill>
                <a:latin typeface="Liberation Sans"/>
                <a:cs typeface="Liberation Sans"/>
              </a:rPr>
              <a:t>similar.csv</a:t>
            </a:r>
            <a:endParaRPr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63258" y="272730"/>
            <a:ext cx="8713804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761970">
              <a:lnSpc>
                <a:spcPts val="3458"/>
              </a:lnSpc>
            </a:pPr>
            <a:r>
              <a:rPr lang="en-US" sz="3400" b="1" dirty="0">
                <a:solidFill>
                  <a:srgbClr val="2B1BFC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rben" pitchFamily="34" charset="-120"/>
              </a:rPr>
              <a:t>Витрина: всё важное в одном окне</a:t>
            </a:r>
            <a:endParaRPr lang="en-US" sz="3400" b="1" dirty="0">
              <a:solidFill>
                <a:srgbClr val="2B1BFC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9749" y="3331875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08"/>
              </a:lnSpc>
            </a:pPr>
            <a:r>
              <a:rPr lang="en-US" sz="1375" dirty="0">
                <a:solidFill>
                  <a:srgbClr val="404155"/>
                </a:solidFill>
                <a:latin typeface="semi bold black"/>
                <a:ea typeface="Corben" pitchFamily="34" charset="-122"/>
                <a:cs typeface="Corben" pitchFamily="34" charset="-120"/>
              </a:rPr>
              <a:t>Зачем:</a:t>
            </a:r>
            <a:endParaRPr lang="en-US" sz="137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2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556" y="914390"/>
            <a:ext cx="11710888" cy="5589628"/>
          </a:xfrm>
          <a:prstGeom prst="rect">
            <a:avLst/>
          </a:prstGeom>
        </p:spPr>
      </p:pic>
      <p:sp>
        <p:nvSpPr>
          <p:cNvPr id="34" name="Text 2"/>
          <p:cNvSpPr/>
          <p:nvPr/>
        </p:nvSpPr>
        <p:spPr>
          <a:xfrm>
            <a:off x="599749" y="1164432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08"/>
              </a:lnSpc>
            </a:pPr>
            <a:r>
              <a:rPr lang="en-US" dirty="0" err="1">
                <a:solidFill>
                  <a:srgbClr val="404155"/>
                </a:solidFill>
                <a:latin typeface="Liberation Sans"/>
                <a:ea typeface="Corben" pitchFamily="34" charset="-122"/>
                <a:cs typeface="Corben" pitchFamily="34" charset="-120"/>
              </a:rPr>
              <a:t>Что</a:t>
            </a:r>
            <a:r>
              <a:rPr lang="ru-RU" dirty="0">
                <a:solidFill>
                  <a:srgbClr val="404155"/>
                </a:solidFill>
                <a:latin typeface="Liberation Sans"/>
                <a:ea typeface="Corben" pitchFamily="34" charset="-122"/>
                <a:cs typeface="Corben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Liberation Sans"/>
                <a:ea typeface="Corben" pitchFamily="34" charset="-122"/>
                <a:cs typeface="Corben" pitchFamily="34" charset="-120"/>
              </a:rPr>
              <a:t>сделано</a:t>
            </a:r>
            <a:r>
              <a:rPr lang="en-US" dirty="0">
                <a:solidFill>
                  <a:srgbClr val="404155"/>
                </a:solidFill>
                <a:latin typeface="Liberation Sans"/>
                <a:ea typeface="Corben" pitchFamily="34" charset="-122"/>
                <a:cs typeface="Corben" pitchFamily="34" charset="-120"/>
              </a:rPr>
              <a:t>:</a:t>
            </a:r>
            <a:endParaRPr lang="en-US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99749" y="1470919"/>
            <a:ext cx="27815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 defTabSz="761970">
              <a:lnSpc>
                <a:spcPts val="1750"/>
              </a:lnSpc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Объед</a:t>
            </a:r>
            <a:r>
              <a:rPr lang="ru-RU" sz="160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енены</a:t>
            </a:r>
            <a:r>
              <a:rPr lang="en-US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данные из 4 таблиц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.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99749" y="1747342"/>
            <a:ext cx="27815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 defTabSz="761970">
              <a:lnSpc>
                <a:spcPts val="1750"/>
              </a:lnSpc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Всего</a:t>
            </a:r>
            <a:r>
              <a:rPr lang="en-US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10 столбцов</a:t>
            </a:r>
            <a:endParaRPr lang="en-US" sz="160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37" name="Text 5"/>
          <p:cNvSpPr/>
          <p:nvPr/>
        </p:nvSpPr>
        <p:spPr>
          <a:xfrm>
            <a:off x="599749" y="2023766"/>
            <a:ext cx="2781598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 defTabSz="761970">
              <a:lnSpc>
                <a:spcPts val="1750"/>
              </a:lnSpc>
              <a:buClr>
                <a:srgbClr val="70AD47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Выбра</a:t>
            </a:r>
            <a:r>
              <a:rPr lang="ru-RU" sz="160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ны</a:t>
            </a:r>
            <a:r>
              <a:rPr lang="en-US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ключевые метрики: названия, ранги, рейтинги, теги, аналоги.</a:t>
            </a:r>
            <a:endParaRPr lang="en-US" sz="160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8392" y="3162600"/>
            <a:ext cx="5447307" cy="492620"/>
          </a:xfrm>
          <a:prstGeom prst="roundRect">
            <a:avLst>
              <a:gd name="adj" fmla="val 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749" y="3335645"/>
            <a:ext cx="60009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 defTabSz="761970">
              <a:lnSpc>
                <a:spcPts val="1750"/>
              </a:lnSpc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ru-RU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Зачем: Упрощен </a:t>
            </a:r>
            <a:r>
              <a:rPr lang="en-US" sz="160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анализ</a:t>
            </a:r>
            <a:r>
              <a:rPr lang="en-US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,</a:t>
            </a:r>
            <a:r>
              <a:rPr lang="ru-RU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убра</a:t>
            </a:r>
            <a:r>
              <a:rPr lang="ru-RU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но</a:t>
            </a:r>
            <a:r>
              <a:rPr lang="en-US" sz="160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лишнее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.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32" y="6066234"/>
            <a:ext cx="1845468" cy="79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7"/>
          <p:cNvSpPr/>
          <p:nvPr/>
        </p:nvSpPr>
        <p:spPr>
          <a:xfrm>
            <a:off x="6418135" y="1289844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08"/>
              </a:lnSpc>
            </a:pPr>
            <a:r>
              <a:rPr lang="en-US" dirty="0">
                <a:solidFill>
                  <a:srgbClr val="404155"/>
                </a:solidFill>
                <a:latin typeface="Liberation Sans"/>
                <a:ea typeface="Corben" pitchFamily="34" charset="-122"/>
                <a:cs typeface="Corben" pitchFamily="34" charset="-120"/>
              </a:rPr>
              <a:t>Столбцы:</a:t>
            </a:r>
            <a:endParaRPr lang="en-US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62288" y="1848248"/>
            <a:ext cx="2223322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id </a:t>
            </a:r>
            <a:endParaRPr lang="ru-RU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Уникальный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идентификатор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62288" y="2701727"/>
            <a:ext cx="2080446" cy="46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asin</a:t>
            </a:r>
            <a:endParaRPr lang="ru-RU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Код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продукта Amazon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62287" y="3553331"/>
            <a:ext cx="2223323" cy="45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title</a:t>
            </a: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Название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продукта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62287" y="4384180"/>
            <a:ext cx="2223321" cy="431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group</a:t>
            </a: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Группа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/</a:t>
            </a: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тип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продукта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62284" y="5184478"/>
            <a:ext cx="2223323" cy="44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salesrank</a:t>
            </a:r>
            <a:endParaRPr lang="ru-RU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Ранг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продаж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011643" y="1888233"/>
            <a:ext cx="2257623" cy="466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avg_rating</a:t>
            </a:r>
            <a:endParaRPr lang="en-US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Средний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рейтинг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011643" y="2688532"/>
            <a:ext cx="22992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reviews_total</a:t>
            </a:r>
            <a:endParaRPr lang="en-US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Количество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отзывов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011644" y="3555098"/>
            <a:ext cx="2257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main_categories</a:t>
            </a:r>
            <a:endParaRPr lang="en-US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Основные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категории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11643" y="4379317"/>
            <a:ext cx="2257623" cy="42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similar_asins</a:t>
            </a:r>
            <a:endParaRPr lang="en-US" sz="1250" dirty="0">
              <a:solidFill>
                <a:srgbClr val="404155"/>
              </a:solidFill>
              <a:latin typeface="Liberation Sans"/>
              <a:ea typeface="Nobile" pitchFamily="34" charset="-122"/>
              <a:cs typeface="Nobile" pitchFamily="34" charset="-120"/>
            </a:endParaRP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Похожие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продукты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011642" y="5208340"/>
            <a:ext cx="2257623" cy="41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1750"/>
              </a:lnSpc>
              <a:buSzPct val="100000"/>
            </a:pP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status</a:t>
            </a:r>
          </a:p>
          <a:p>
            <a:pPr defTabSz="761970">
              <a:lnSpc>
                <a:spcPts val="1750"/>
              </a:lnSpc>
              <a:buSzPct val="100000"/>
            </a:pPr>
            <a:r>
              <a:rPr lang="en-US" sz="1250" dirty="0" err="1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Статус</a:t>
            </a:r>
            <a:r>
              <a:rPr lang="en-US" sz="1250" dirty="0">
                <a:solidFill>
                  <a:srgbClr val="404155"/>
                </a:solidFill>
                <a:latin typeface="Liberation Sans"/>
                <a:ea typeface="Nobile" pitchFamily="34" charset="-122"/>
                <a:cs typeface="Nobile" pitchFamily="34" charset="-120"/>
              </a:rPr>
              <a:t> продукта</a:t>
            </a:r>
            <a:endParaRPr lang="en-US" sz="1250" dirty="0">
              <a:solidFill>
                <a:prstClr val="black"/>
              </a:solidFill>
              <a:latin typeface="Liberation Sans"/>
            </a:endParaRPr>
          </a:p>
        </p:txBody>
      </p:sp>
      <p:sp>
        <p:nvSpPr>
          <p:cNvPr id="40" name="object 4"/>
          <p:cNvSpPr/>
          <p:nvPr/>
        </p:nvSpPr>
        <p:spPr>
          <a:xfrm>
            <a:off x="458392" y="1093472"/>
            <a:ext cx="5447307" cy="1946062"/>
          </a:xfrm>
          <a:custGeom>
            <a:avLst/>
            <a:gdLst/>
            <a:ahLst/>
            <a:cxnLst/>
            <a:rect l="l" t="t" r="r" b="b"/>
            <a:pathLst>
              <a:path w="5499100" h="1877695">
                <a:moveTo>
                  <a:pt x="5498591" y="1877567"/>
                </a:moveTo>
                <a:lnTo>
                  <a:pt x="0" y="1877567"/>
                </a:lnTo>
                <a:lnTo>
                  <a:pt x="0" y="0"/>
                </a:lnTo>
                <a:lnTo>
                  <a:pt x="5498591" y="0"/>
                </a:lnTo>
                <a:lnTo>
                  <a:pt x="5498591" y="52196"/>
                </a:lnTo>
                <a:lnTo>
                  <a:pt x="158495" y="52196"/>
                </a:lnTo>
                <a:lnTo>
                  <a:pt x="151927" y="52514"/>
                </a:lnTo>
                <a:lnTo>
                  <a:pt x="116218" y="67305"/>
                </a:lnTo>
                <a:lnTo>
                  <a:pt x="94675" y="99545"/>
                </a:lnTo>
                <a:lnTo>
                  <a:pt x="91820" y="118871"/>
                </a:lnTo>
                <a:lnTo>
                  <a:pt x="91820" y="1680971"/>
                </a:lnTo>
                <a:lnTo>
                  <a:pt x="103047" y="1718021"/>
                </a:lnTo>
                <a:lnTo>
                  <a:pt x="132980" y="1742571"/>
                </a:lnTo>
                <a:lnTo>
                  <a:pt x="158495" y="1747646"/>
                </a:lnTo>
                <a:lnTo>
                  <a:pt x="5498591" y="1747646"/>
                </a:lnTo>
                <a:lnTo>
                  <a:pt x="5498591" y="1877567"/>
                </a:lnTo>
                <a:close/>
              </a:path>
              <a:path w="5499100" h="1877695">
                <a:moveTo>
                  <a:pt x="5498591" y="1747646"/>
                </a:moveTo>
                <a:lnTo>
                  <a:pt x="5340095" y="1747646"/>
                </a:lnTo>
                <a:lnTo>
                  <a:pt x="5346663" y="1747329"/>
                </a:lnTo>
                <a:lnTo>
                  <a:pt x="5353105" y="1746377"/>
                </a:lnTo>
                <a:lnTo>
                  <a:pt x="5387241" y="1728118"/>
                </a:lnTo>
                <a:lnTo>
                  <a:pt x="5405501" y="1693981"/>
                </a:lnTo>
                <a:lnTo>
                  <a:pt x="5406770" y="1680971"/>
                </a:lnTo>
                <a:lnTo>
                  <a:pt x="5406770" y="118871"/>
                </a:lnTo>
                <a:lnTo>
                  <a:pt x="5395543" y="81822"/>
                </a:lnTo>
                <a:lnTo>
                  <a:pt x="5365610" y="57272"/>
                </a:lnTo>
                <a:lnTo>
                  <a:pt x="5340095" y="52196"/>
                </a:lnTo>
                <a:lnTo>
                  <a:pt x="5498591" y="52196"/>
                </a:lnTo>
                <a:lnTo>
                  <a:pt x="5498591" y="1747646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pPr defTabSz="761970">
              <a:defRPr/>
            </a:pPr>
            <a:endParaRPr sz="1500" kern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41" name="object 12"/>
          <p:cNvSpPr/>
          <p:nvPr/>
        </p:nvSpPr>
        <p:spPr>
          <a:xfrm>
            <a:off x="6120160" y="1071315"/>
            <a:ext cx="5462240" cy="4994918"/>
          </a:xfrm>
          <a:custGeom>
            <a:avLst/>
            <a:gdLst/>
            <a:ahLst/>
            <a:cxnLst/>
            <a:rect l="l" t="t" r="r" b="b"/>
            <a:pathLst>
              <a:path w="5499100" h="3514725">
                <a:moveTo>
                  <a:pt x="5498591" y="3514343"/>
                </a:moveTo>
                <a:lnTo>
                  <a:pt x="0" y="3514343"/>
                </a:lnTo>
                <a:lnTo>
                  <a:pt x="0" y="0"/>
                </a:lnTo>
                <a:lnTo>
                  <a:pt x="5498591" y="0"/>
                </a:lnTo>
                <a:lnTo>
                  <a:pt x="5498591" y="52196"/>
                </a:lnTo>
                <a:lnTo>
                  <a:pt x="158495" y="52196"/>
                </a:lnTo>
                <a:lnTo>
                  <a:pt x="151927" y="52514"/>
                </a:lnTo>
                <a:lnTo>
                  <a:pt x="116217" y="67305"/>
                </a:lnTo>
                <a:lnTo>
                  <a:pt x="94674" y="99545"/>
                </a:lnTo>
                <a:lnTo>
                  <a:pt x="91820" y="118871"/>
                </a:lnTo>
                <a:lnTo>
                  <a:pt x="91820" y="3319271"/>
                </a:lnTo>
                <a:lnTo>
                  <a:pt x="103046" y="3356321"/>
                </a:lnTo>
                <a:lnTo>
                  <a:pt x="132980" y="3380870"/>
                </a:lnTo>
                <a:lnTo>
                  <a:pt x="158495" y="3385946"/>
                </a:lnTo>
                <a:lnTo>
                  <a:pt x="5498591" y="3385946"/>
                </a:lnTo>
                <a:lnTo>
                  <a:pt x="5498591" y="3514343"/>
                </a:lnTo>
                <a:close/>
              </a:path>
              <a:path w="5499100" h="3514725">
                <a:moveTo>
                  <a:pt x="5498591" y="3385946"/>
                </a:moveTo>
                <a:lnTo>
                  <a:pt x="5340095" y="3385946"/>
                </a:lnTo>
                <a:lnTo>
                  <a:pt x="5346663" y="3385629"/>
                </a:lnTo>
                <a:lnTo>
                  <a:pt x="5353104" y="3384677"/>
                </a:lnTo>
                <a:lnTo>
                  <a:pt x="5387240" y="3366418"/>
                </a:lnTo>
                <a:lnTo>
                  <a:pt x="5405501" y="3332281"/>
                </a:lnTo>
                <a:lnTo>
                  <a:pt x="5406770" y="3319271"/>
                </a:lnTo>
                <a:lnTo>
                  <a:pt x="5406770" y="118871"/>
                </a:lnTo>
                <a:lnTo>
                  <a:pt x="5395542" y="81822"/>
                </a:lnTo>
                <a:lnTo>
                  <a:pt x="5365609" y="57272"/>
                </a:lnTo>
                <a:lnTo>
                  <a:pt x="5340095" y="52196"/>
                </a:lnTo>
                <a:lnTo>
                  <a:pt x="5498591" y="52196"/>
                </a:lnTo>
                <a:lnTo>
                  <a:pt x="5498591" y="3385946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>
            <a:pPr defTabSz="761970">
              <a:defRPr/>
            </a:pPr>
            <a:endParaRPr sz="1500" kern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7179" y="261144"/>
            <a:ext cx="751214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2750" dirty="0">
                <a:solidFill>
                  <a:srgbClr val="1B1B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rben" pitchFamily="34" charset="-120"/>
              </a:rPr>
              <a:t>Некоторые данные из витрины</a:t>
            </a:r>
            <a:endParaRPr lang="en-US" sz="2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6426"/>
              </p:ext>
            </p:extLst>
          </p:nvPr>
        </p:nvGraphicFramePr>
        <p:xfrm>
          <a:off x="672702" y="1119187"/>
          <a:ext cx="11128399" cy="495865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96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2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23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47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40891">
                <a:tc>
                  <a:txBody>
                    <a:bodyPr/>
                    <a:lstStyle/>
                    <a:p>
                      <a:r>
                        <a:rPr lang="ru-RU" sz="1300" dirty="0"/>
                        <a:t>Код продукта </a:t>
                      </a:r>
                      <a:r>
                        <a:rPr lang="en-US" sz="1300" dirty="0"/>
                        <a:t>Amazon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Название продукта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Группа/тип продукта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Ранг продаж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Средний рейтинг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Количество отзывов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Основные категории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Похожие продукты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Статус продукта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109">
                <a:tc>
                  <a:txBody>
                    <a:bodyPr/>
                    <a:lstStyle/>
                    <a:p>
                      <a:r>
                        <a:rPr lang="ru-RU" sz="1300" dirty="0"/>
                        <a:t>0920303137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Toilet Tales (</a:t>
                      </a:r>
                      <a:r>
                        <a:rPr lang="en-US" sz="1300" dirty="0" err="1"/>
                        <a:t>Annick</a:t>
                      </a:r>
                      <a:r>
                        <a:rPr lang="en-US" sz="1300" dirty="0"/>
                        <a:t> Toddler Series)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847 465,00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5,00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von </a:t>
                      </a:r>
                      <a:r>
                        <a:rPr lang="en-US" sz="1300" dirty="0" err="1"/>
                        <a:t>Konigslow</a:t>
                      </a:r>
                      <a:r>
                        <a:rPr lang="en-US" sz="1300" dirty="0"/>
                        <a:t>, Andrea Wayne, Toilet Training, General, Books for Kids, Picture Books, Potty Training Books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0764103431, 0965047709, 030717610X, 0916291456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Active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0818">
                <a:tc>
                  <a:txBody>
                    <a:bodyPr/>
                    <a:lstStyle/>
                    <a:p>
                      <a:r>
                        <a:rPr lang="ru-RU" sz="1300" dirty="0"/>
                        <a:t>1889108979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Godly Play: 20 Core Presentations for Winter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288 564,00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jp-unknown3, Youth Ministry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0664250408, 1931960046, 0806627859, 0687086515, 1889108952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Active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838">
                <a:tc>
                  <a:txBody>
                    <a:bodyPr/>
                    <a:lstStyle/>
                    <a:p>
                      <a:r>
                        <a:rPr lang="ru-RU" sz="1300" dirty="0"/>
                        <a:t>1889108960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Godly Play: 14 Core Presentations For Fall (The Complete Guide to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201 168,00</a:t>
                      </a:r>
                    </a:p>
                    <a:p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0,00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jp-unknown3, Youth Ministry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0664250408, 1931960046, 0806627859, 0687086515, 1889108952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Active</a:t>
                      </a:r>
                      <a:endParaRPr lang="ru-RU" sz="13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939" y="6477001"/>
            <a:ext cx="2351483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4BFD-6D30-5A70-844F-CA99578E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A26CA1-4A23-56D2-B3FF-35C820A20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0" tIns="0" rIns="0" bIns="0"/>
          <a:lstStyle/>
          <a:p>
            <a:r>
              <a:rPr lang="ru-RU" dirty="0"/>
              <a:t>Анализ + Визуализация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40DE07-30E8-D610-CCC9-3F08AA949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0" tIns="0" rIns="0" bIns="0">
            <a:normAutofit/>
          </a:bodyPr>
          <a:lstStyle/>
          <a:p>
            <a:r>
              <a:rPr lang="ru-RU" b="0" i="1" dirty="0">
                <a:solidFill>
                  <a:srgbClr val="404040"/>
                </a:solidFill>
                <a:effectLst/>
                <a:latin typeface="DeepSeek-CJK-patch"/>
              </a:rPr>
              <a:t>Анализ графа покупок: структура и ключевые метрики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5923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6756" y="275817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625"/>
              </a:lnSpc>
            </a:pPr>
            <a:r>
              <a:rPr lang="en-US" sz="3600" dirty="0">
                <a:solidFill>
                  <a:srgbClr val="1B1B27"/>
                </a:solidFill>
                <a:latin typeface="semi bold black"/>
                <a:ea typeface="Corben" pitchFamily="34" charset="-122"/>
                <a:cs typeface="Corben" pitchFamily="34" charset="-120"/>
              </a:rPr>
              <a:t>Дашборд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938" y="6365875"/>
            <a:ext cx="24050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56" y="1080654"/>
            <a:ext cx="10952254" cy="497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1" y="457300"/>
            <a:ext cx="526633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625"/>
              </a:lnSpc>
            </a:pPr>
            <a:r>
              <a:rPr lang="ru-RU" sz="3400" dirty="0">
                <a:solidFill>
                  <a:srgbClr val="1B1B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rben" pitchFamily="34" charset="-120"/>
              </a:rPr>
              <a:t>Компоненты</a:t>
            </a:r>
            <a:endParaRPr lang="en-US" sz="3400" dirty="0">
              <a:solidFill>
                <a:prstClr val="black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438" y="6381750"/>
            <a:ext cx="18335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object 6"/>
          <p:cNvGrpSpPr/>
          <p:nvPr/>
        </p:nvGrpSpPr>
        <p:grpSpPr>
          <a:xfrm>
            <a:off x="6301272" y="1182637"/>
            <a:ext cx="4780492" cy="4711346"/>
            <a:chOff x="408431" y="1514856"/>
            <a:chExt cx="5736590" cy="5733415"/>
          </a:xfrm>
        </p:grpSpPr>
        <p:sp>
          <p:nvSpPr>
            <p:cNvPr id="21" name="object 7"/>
            <p:cNvSpPr/>
            <p:nvPr/>
          </p:nvSpPr>
          <p:spPr>
            <a:xfrm>
              <a:off x="408431" y="1514856"/>
              <a:ext cx="5736590" cy="5733415"/>
            </a:xfrm>
            <a:custGeom>
              <a:avLst/>
              <a:gdLst/>
              <a:ahLst/>
              <a:cxnLst/>
              <a:rect l="l" t="t" r="r" b="b"/>
              <a:pathLst>
                <a:path w="5736590" h="5733415">
                  <a:moveTo>
                    <a:pt x="5736335" y="5733287"/>
                  </a:moveTo>
                  <a:lnTo>
                    <a:pt x="0" y="5733287"/>
                  </a:lnTo>
                  <a:lnTo>
                    <a:pt x="0" y="0"/>
                  </a:lnTo>
                  <a:lnTo>
                    <a:pt x="5736335" y="0"/>
                  </a:lnTo>
                  <a:lnTo>
                    <a:pt x="5736335" y="171068"/>
                  </a:lnTo>
                  <a:lnTo>
                    <a:pt x="315467" y="171068"/>
                  </a:lnTo>
                  <a:lnTo>
                    <a:pt x="305146" y="171567"/>
                  </a:lnTo>
                  <a:lnTo>
                    <a:pt x="266027" y="183454"/>
                  </a:lnTo>
                  <a:lnTo>
                    <a:pt x="234434" y="209407"/>
                  </a:lnTo>
                  <a:lnTo>
                    <a:pt x="215179" y="245474"/>
                  </a:lnTo>
                  <a:lnTo>
                    <a:pt x="210692" y="275843"/>
                  </a:lnTo>
                  <a:lnTo>
                    <a:pt x="210692" y="5381243"/>
                  </a:lnTo>
                  <a:lnTo>
                    <a:pt x="218668" y="5421338"/>
                  </a:lnTo>
                  <a:lnTo>
                    <a:pt x="241380" y="5455330"/>
                  </a:lnTo>
                  <a:lnTo>
                    <a:pt x="275372" y="5478042"/>
                  </a:lnTo>
                  <a:lnTo>
                    <a:pt x="315467" y="5486018"/>
                  </a:lnTo>
                  <a:lnTo>
                    <a:pt x="5736335" y="5486018"/>
                  </a:lnTo>
                  <a:lnTo>
                    <a:pt x="5736335" y="5733287"/>
                  </a:lnTo>
                  <a:close/>
                </a:path>
                <a:path w="5736590" h="5733415">
                  <a:moveTo>
                    <a:pt x="5736335" y="5486018"/>
                  </a:moveTo>
                  <a:lnTo>
                    <a:pt x="5420867" y="5486018"/>
                  </a:lnTo>
                  <a:lnTo>
                    <a:pt x="5431188" y="5485519"/>
                  </a:lnTo>
                  <a:lnTo>
                    <a:pt x="5441311" y="5484024"/>
                  </a:lnTo>
                  <a:lnTo>
                    <a:pt x="5479087" y="5468376"/>
                  </a:lnTo>
                  <a:lnTo>
                    <a:pt x="5508000" y="5439463"/>
                  </a:lnTo>
                  <a:lnTo>
                    <a:pt x="5523648" y="5401687"/>
                  </a:lnTo>
                  <a:lnTo>
                    <a:pt x="5525642" y="5381243"/>
                  </a:lnTo>
                  <a:lnTo>
                    <a:pt x="5525642" y="275843"/>
                  </a:lnTo>
                  <a:lnTo>
                    <a:pt x="5517666" y="235748"/>
                  </a:lnTo>
                  <a:lnTo>
                    <a:pt x="5494954" y="201756"/>
                  </a:lnTo>
                  <a:lnTo>
                    <a:pt x="5460962" y="179044"/>
                  </a:lnTo>
                  <a:lnTo>
                    <a:pt x="5420867" y="171068"/>
                  </a:lnTo>
                  <a:lnTo>
                    <a:pt x="5736335" y="171068"/>
                  </a:lnTo>
                  <a:lnTo>
                    <a:pt x="5736335" y="548601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22" name="object 8"/>
            <p:cNvSpPr/>
            <p:nvPr/>
          </p:nvSpPr>
          <p:spPr>
            <a:xfrm>
              <a:off x="609599" y="1676399"/>
              <a:ext cx="5334000" cy="5334000"/>
            </a:xfrm>
            <a:custGeom>
              <a:avLst/>
              <a:gdLst/>
              <a:ahLst/>
              <a:cxnLst/>
              <a:rect l="l" t="t" r="r" b="b"/>
              <a:pathLst>
                <a:path w="5334000" h="5334000">
                  <a:moveTo>
                    <a:pt x="5227204" y="5333999"/>
                  </a:moveTo>
                  <a:lnTo>
                    <a:pt x="106795" y="5333999"/>
                  </a:lnTo>
                  <a:lnTo>
                    <a:pt x="99362" y="5333267"/>
                  </a:lnTo>
                  <a:lnTo>
                    <a:pt x="57038" y="5318905"/>
                  </a:lnTo>
                  <a:lnTo>
                    <a:pt x="23432" y="5289441"/>
                  </a:lnTo>
                  <a:lnTo>
                    <a:pt x="3660" y="5249358"/>
                  </a:lnTo>
                  <a:lnTo>
                    <a:pt x="0" y="5227204"/>
                  </a:lnTo>
                  <a:lnTo>
                    <a:pt x="0" y="52196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5227204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5227204"/>
                  </a:lnTo>
                  <a:lnTo>
                    <a:pt x="5322426" y="5270373"/>
                  </a:lnTo>
                  <a:lnTo>
                    <a:pt x="5295214" y="5305829"/>
                  </a:lnTo>
                  <a:lnTo>
                    <a:pt x="5256506" y="5328170"/>
                  </a:lnTo>
                  <a:lnTo>
                    <a:pt x="5234637" y="5333267"/>
                  </a:lnTo>
                  <a:lnTo>
                    <a:pt x="5227204" y="533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</p:grpSp>
      <p:sp>
        <p:nvSpPr>
          <p:cNvPr id="25" name="object 12"/>
          <p:cNvSpPr txBox="1"/>
          <p:nvPr/>
        </p:nvSpPr>
        <p:spPr>
          <a:xfrm>
            <a:off x="1187168" y="1933013"/>
            <a:ext cx="3816615" cy="201444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Количество сильно связных компонент: </a:t>
            </a:r>
            <a:r>
              <a:rPr lang="ru-RU" sz="1250" dirty="0">
                <a:solidFill>
                  <a:prstClr val="black"/>
                </a:solidFill>
                <a:latin typeface="Liberation Sans"/>
                <a:ea typeface="Meiryo" panose="020B0604030504040204" pitchFamily="34" charset="-128"/>
                <a:cs typeface="Meiryo" panose="020B0604030504040204" pitchFamily="34" charset="-128"/>
              </a:rPr>
              <a:t>6594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036DEBD-0AC6-D15A-8A75-755154F96F8E}"/>
              </a:ext>
            </a:extLst>
          </p:cNvPr>
          <p:cNvSpPr txBox="1">
            <a:spLocks/>
          </p:cNvSpPr>
          <p:nvPr/>
        </p:nvSpPr>
        <p:spPr>
          <a:xfrm>
            <a:off x="1187168" y="2286279"/>
            <a:ext cx="3546683" cy="3931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39" indent="-285739" defTabSz="761970">
              <a:spcBef>
                <a:spcPts val="833"/>
              </a:spcBef>
              <a:buFont typeface="Wingdings" panose="05000000000000000000" pitchFamily="2" charset="2"/>
              <a:buChar char="q"/>
              <a:defRPr/>
            </a:pPr>
            <a:r>
              <a:rPr lang="ru-RU" altLang="zh-CN" sz="1250" dirty="0">
                <a:solidFill>
                  <a:sysClr val="windowText" lastClr="000000"/>
                </a:solidFill>
                <a:latin typeface="Liberation Sans"/>
                <a:ea typeface="等线" panose="02010600030101010101" pitchFamily="2" charset="-122"/>
              </a:rPr>
              <a:t>Гигантская компонента содержит в себе 92.2% вершин графа</a:t>
            </a:r>
            <a:endParaRPr lang="zh-CN" altLang="en-US" sz="1250" dirty="0">
              <a:solidFill>
                <a:sysClr val="windowText" lastClr="000000"/>
              </a:solidFill>
              <a:latin typeface="Liberation Sans"/>
              <a:ea typeface="等线" panose="02010600030101010101" pitchFamily="2" charset="-122"/>
            </a:endParaRPr>
          </a:p>
        </p:txBody>
      </p:sp>
      <p:sp>
        <p:nvSpPr>
          <p:cNvPr id="38" name="object 12"/>
          <p:cNvSpPr txBox="1"/>
          <p:nvPr/>
        </p:nvSpPr>
        <p:spPr>
          <a:xfrm>
            <a:off x="1143217" y="1448446"/>
            <a:ext cx="3816615" cy="2360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50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Компоненты</a:t>
            </a:r>
            <a:endParaRPr lang="ru-RU" sz="150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pic>
        <p:nvPicPr>
          <p:cNvPr id="44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9525" y="2893061"/>
            <a:ext cx="4063999" cy="2381250"/>
          </a:xfrm>
          <a:prstGeom prst="rect">
            <a:avLst/>
          </a:prstGeom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517" y="5087027"/>
            <a:ext cx="785812" cy="18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2220517" y="4992183"/>
            <a:ext cx="716180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ru-RU" sz="667" dirty="0">
                <a:solidFill>
                  <a:prstClr val="black"/>
                </a:solidFill>
                <a:latin typeface="Liberation Sans"/>
              </a:rPr>
              <a:t>Большая компонента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017" y="5028249"/>
            <a:ext cx="10398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Box 48"/>
          <p:cNvSpPr txBox="1"/>
          <p:nvPr/>
        </p:nvSpPr>
        <p:spPr>
          <a:xfrm>
            <a:off x="3427017" y="4992183"/>
            <a:ext cx="716180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ru-RU" sz="667" dirty="0">
                <a:solidFill>
                  <a:prstClr val="black"/>
                </a:solidFill>
                <a:latin typeface="Liberation Sans"/>
              </a:rPr>
              <a:t>Другие компоненты</a:t>
            </a:r>
          </a:p>
        </p:txBody>
      </p:sp>
      <p:grpSp>
        <p:nvGrpSpPr>
          <p:cNvPr id="34" name="object 6"/>
          <p:cNvGrpSpPr/>
          <p:nvPr/>
        </p:nvGrpSpPr>
        <p:grpSpPr>
          <a:xfrm>
            <a:off x="832335" y="1213999"/>
            <a:ext cx="4780492" cy="4711346"/>
            <a:chOff x="408431" y="1514856"/>
            <a:chExt cx="5736590" cy="5733415"/>
          </a:xfrm>
        </p:grpSpPr>
        <p:sp>
          <p:nvSpPr>
            <p:cNvPr id="46" name="object 7"/>
            <p:cNvSpPr/>
            <p:nvPr/>
          </p:nvSpPr>
          <p:spPr>
            <a:xfrm>
              <a:off x="408431" y="1514856"/>
              <a:ext cx="5736590" cy="5733415"/>
            </a:xfrm>
            <a:custGeom>
              <a:avLst/>
              <a:gdLst/>
              <a:ahLst/>
              <a:cxnLst/>
              <a:rect l="l" t="t" r="r" b="b"/>
              <a:pathLst>
                <a:path w="5736590" h="5733415">
                  <a:moveTo>
                    <a:pt x="5736335" y="5733287"/>
                  </a:moveTo>
                  <a:lnTo>
                    <a:pt x="0" y="5733287"/>
                  </a:lnTo>
                  <a:lnTo>
                    <a:pt x="0" y="0"/>
                  </a:lnTo>
                  <a:lnTo>
                    <a:pt x="5736335" y="0"/>
                  </a:lnTo>
                  <a:lnTo>
                    <a:pt x="5736335" y="171068"/>
                  </a:lnTo>
                  <a:lnTo>
                    <a:pt x="315467" y="171068"/>
                  </a:lnTo>
                  <a:lnTo>
                    <a:pt x="305146" y="171567"/>
                  </a:lnTo>
                  <a:lnTo>
                    <a:pt x="266027" y="183454"/>
                  </a:lnTo>
                  <a:lnTo>
                    <a:pt x="234434" y="209407"/>
                  </a:lnTo>
                  <a:lnTo>
                    <a:pt x="215179" y="245474"/>
                  </a:lnTo>
                  <a:lnTo>
                    <a:pt x="210692" y="275843"/>
                  </a:lnTo>
                  <a:lnTo>
                    <a:pt x="210692" y="5381243"/>
                  </a:lnTo>
                  <a:lnTo>
                    <a:pt x="218668" y="5421338"/>
                  </a:lnTo>
                  <a:lnTo>
                    <a:pt x="241380" y="5455330"/>
                  </a:lnTo>
                  <a:lnTo>
                    <a:pt x="275372" y="5478042"/>
                  </a:lnTo>
                  <a:lnTo>
                    <a:pt x="315467" y="5486018"/>
                  </a:lnTo>
                  <a:lnTo>
                    <a:pt x="5736335" y="5486018"/>
                  </a:lnTo>
                  <a:lnTo>
                    <a:pt x="5736335" y="5733287"/>
                  </a:lnTo>
                  <a:close/>
                </a:path>
                <a:path w="5736590" h="5733415">
                  <a:moveTo>
                    <a:pt x="5736335" y="5486018"/>
                  </a:moveTo>
                  <a:lnTo>
                    <a:pt x="5420867" y="5486018"/>
                  </a:lnTo>
                  <a:lnTo>
                    <a:pt x="5431188" y="5485519"/>
                  </a:lnTo>
                  <a:lnTo>
                    <a:pt x="5441311" y="5484024"/>
                  </a:lnTo>
                  <a:lnTo>
                    <a:pt x="5479087" y="5468376"/>
                  </a:lnTo>
                  <a:lnTo>
                    <a:pt x="5508000" y="5439463"/>
                  </a:lnTo>
                  <a:lnTo>
                    <a:pt x="5523648" y="5401687"/>
                  </a:lnTo>
                  <a:lnTo>
                    <a:pt x="5525642" y="5381243"/>
                  </a:lnTo>
                  <a:lnTo>
                    <a:pt x="5525642" y="275843"/>
                  </a:lnTo>
                  <a:lnTo>
                    <a:pt x="5517666" y="235748"/>
                  </a:lnTo>
                  <a:lnTo>
                    <a:pt x="5494954" y="201756"/>
                  </a:lnTo>
                  <a:lnTo>
                    <a:pt x="5460962" y="179044"/>
                  </a:lnTo>
                  <a:lnTo>
                    <a:pt x="5420867" y="171068"/>
                  </a:lnTo>
                  <a:lnTo>
                    <a:pt x="5736335" y="171068"/>
                  </a:lnTo>
                  <a:lnTo>
                    <a:pt x="5736335" y="548601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47" name="object 8"/>
            <p:cNvSpPr/>
            <p:nvPr/>
          </p:nvSpPr>
          <p:spPr>
            <a:xfrm>
              <a:off x="609599" y="1676399"/>
              <a:ext cx="5334000" cy="5334000"/>
            </a:xfrm>
            <a:custGeom>
              <a:avLst/>
              <a:gdLst/>
              <a:ahLst/>
              <a:cxnLst/>
              <a:rect l="l" t="t" r="r" b="b"/>
              <a:pathLst>
                <a:path w="5334000" h="5334000">
                  <a:moveTo>
                    <a:pt x="5227204" y="5333999"/>
                  </a:moveTo>
                  <a:lnTo>
                    <a:pt x="106795" y="5333999"/>
                  </a:lnTo>
                  <a:lnTo>
                    <a:pt x="99362" y="5333267"/>
                  </a:lnTo>
                  <a:lnTo>
                    <a:pt x="57038" y="5318905"/>
                  </a:lnTo>
                  <a:lnTo>
                    <a:pt x="23432" y="5289441"/>
                  </a:lnTo>
                  <a:lnTo>
                    <a:pt x="3660" y="5249358"/>
                  </a:lnTo>
                  <a:lnTo>
                    <a:pt x="0" y="5227204"/>
                  </a:lnTo>
                  <a:lnTo>
                    <a:pt x="0" y="52196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5227204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5227204"/>
                  </a:lnTo>
                  <a:lnTo>
                    <a:pt x="5322426" y="5270373"/>
                  </a:lnTo>
                  <a:lnTo>
                    <a:pt x="5295214" y="5305829"/>
                  </a:lnTo>
                  <a:lnTo>
                    <a:pt x="5256506" y="5328170"/>
                  </a:lnTo>
                  <a:lnTo>
                    <a:pt x="5234637" y="5333267"/>
                  </a:lnTo>
                  <a:lnTo>
                    <a:pt x="5227204" y="533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</p:grpSp>
      <p:sp>
        <p:nvSpPr>
          <p:cNvPr id="48" name="object 12"/>
          <p:cNvSpPr txBox="1"/>
          <p:nvPr/>
        </p:nvSpPr>
        <p:spPr>
          <a:xfrm>
            <a:off x="1314168" y="2060013"/>
            <a:ext cx="3816615" cy="201444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Количество сильно связных компонент: </a:t>
            </a:r>
            <a:r>
              <a:rPr lang="ru-RU" sz="1250" b="1" dirty="0">
                <a:solidFill>
                  <a:prstClr val="black"/>
                </a:solidFill>
                <a:latin typeface="Liberation Sans"/>
                <a:ea typeface="Meiryo" panose="020B0604030504040204" pitchFamily="34" charset="-128"/>
                <a:cs typeface="Meiryo" panose="020B0604030504040204" pitchFamily="34" charset="-128"/>
              </a:rPr>
              <a:t>6594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D036DEBD-0AC6-D15A-8A75-755154F96F8E}"/>
              </a:ext>
            </a:extLst>
          </p:cNvPr>
          <p:cNvSpPr txBox="1">
            <a:spLocks/>
          </p:cNvSpPr>
          <p:nvPr/>
        </p:nvSpPr>
        <p:spPr>
          <a:xfrm>
            <a:off x="1314168" y="2413279"/>
            <a:ext cx="3546683" cy="3931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39" indent="-285739" defTabSz="761970">
              <a:spcBef>
                <a:spcPts val="833"/>
              </a:spcBef>
              <a:buFont typeface="Wingdings" panose="05000000000000000000" pitchFamily="2" charset="2"/>
              <a:buChar char="q"/>
              <a:defRPr/>
            </a:pPr>
            <a:r>
              <a:rPr lang="ru-RU" altLang="zh-CN" sz="1250" dirty="0">
                <a:solidFill>
                  <a:sysClr val="windowText" lastClr="000000"/>
                </a:solidFill>
                <a:latin typeface="Liberation Sans"/>
                <a:ea typeface="等线" panose="02010600030101010101" pitchFamily="2" charset="-122"/>
              </a:rPr>
              <a:t>Гигантская компонента содержит в себе </a:t>
            </a:r>
            <a:r>
              <a:rPr lang="ru-RU" altLang="zh-CN" sz="1250" b="1" dirty="0">
                <a:solidFill>
                  <a:sysClr val="windowText" lastClr="000000"/>
                </a:solidFill>
                <a:latin typeface="Liberation Sans"/>
                <a:ea typeface="等线" panose="02010600030101010101" pitchFamily="2" charset="-122"/>
              </a:rPr>
              <a:t>92.2%</a:t>
            </a:r>
            <a:r>
              <a:rPr lang="ru-RU" altLang="zh-CN" sz="1250" dirty="0">
                <a:solidFill>
                  <a:sysClr val="windowText" lastClr="000000"/>
                </a:solidFill>
                <a:latin typeface="Liberation Sans"/>
                <a:ea typeface="等线" panose="02010600030101010101" pitchFamily="2" charset="-122"/>
              </a:rPr>
              <a:t> вершин графа</a:t>
            </a:r>
            <a:endParaRPr lang="zh-CN" altLang="en-US" sz="1250" dirty="0">
              <a:solidFill>
                <a:sysClr val="windowText" lastClr="000000"/>
              </a:solidFill>
              <a:latin typeface="Liberation Sans"/>
              <a:ea typeface="等线" panose="02010600030101010101" pitchFamily="2" charset="-122"/>
            </a:endParaRPr>
          </a:p>
        </p:txBody>
      </p:sp>
      <p:sp>
        <p:nvSpPr>
          <p:cNvPr id="51" name="object 12"/>
          <p:cNvSpPr txBox="1"/>
          <p:nvPr/>
        </p:nvSpPr>
        <p:spPr>
          <a:xfrm>
            <a:off x="1270217" y="1575446"/>
            <a:ext cx="3816615" cy="2360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50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Компоненты</a:t>
            </a:r>
            <a:endParaRPr lang="ru-RU" sz="150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pic>
        <p:nvPicPr>
          <p:cNvPr id="52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6525" y="3020061"/>
            <a:ext cx="4063999" cy="2381250"/>
          </a:xfrm>
          <a:prstGeom prst="rect">
            <a:avLst/>
          </a:prstGeom>
        </p:spPr>
      </p:pic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517" y="5214027"/>
            <a:ext cx="785812" cy="18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53"/>
          <p:cNvSpPr txBox="1"/>
          <p:nvPr/>
        </p:nvSpPr>
        <p:spPr>
          <a:xfrm>
            <a:off x="2347517" y="5119183"/>
            <a:ext cx="716180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ru-RU" sz="667" dirty="0">
                <a:solidFill>
                  <a:prstClr val="black"/>
                </a:solidFill>
                <a:latin typeface="Liberation Sans"/>
              </a:rPr>
              <a:t>Большая компонента</a:t>
            </a:r>
          </a:p>
        </p:txBody>
      </p:sp>
      <p:pic>
        <p:nvPicPr>
          <p:cNvPr id="5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017" y="5155249"/>
            <a:ext cx="10398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55"/>
          <p:cNvSpPr txBox="1"/>
          <p:nvPr/>
        </p:nvSpPr>
        <p:spPr>
          <a:xfrm>
            <a:off x="3554017" y="5119183"/>
            <a:ext cx="716180" cy="29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ru-RU" sz="667" dirty="0">
                <a:solidFill>
                  <a:prstClr val="black"/>
                </a:solidFill>
                <a:latin typeface="Liberation Sans"/>
              </a:rPr>
              <a:t>Другие компоненты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766570" y="1575446"/>
            <a:ext cx="1905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61970"/>
            <a:r>
              <a:rPr lang="ru-RU" altLang="zh-CN" sz="150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Ключевые выводы:</a:t>
            </a:r>
            <a:endParaRPr lang="ru-RU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object 12"/>
          <p:cNvSpPr txBox="1"/>
          <p:nvPr/>
        </p:nvSpPr>
        <p:spPr>
          <a:xfrm>
            <a:off x="6783211" y="2033734"/>
            <a:ext cx="3816615" cy="3745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Граф сильно запутан, но имеет сильную взаимосвязь</a:t>
            </a:r>
            <a:endParaRPr lang="ru-RU" sz="125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58" name="object 12"/>
          <p:cNvSpPr txBox="1"/>
          <p:nvPr/>
        </p:nvSpPr>
        <p:spPr>
          <a:xfrm>
            <a:off x="6783211" y="2588412"/>
            <a:ext cx="3816615" cy="3745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Небольшие компоненты представляют специализированные группы продуктов</a:t>
            </a:r>
            <a:endParaRPr lang="ru-RU" sz="125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59" name="object 12"/>
          <p:cNvSpPr txBox="1"/>
          <p:nvPr/>
        </p:nvSpPr>
        <p:spPr>
          <a:xfrm>
            <a:off x="6783211" y="3195889"/>
            <a:ext cx="3816615" cy="3745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Почти все товары так или иначе связаны через общие покупки</a:t>
            </a:r>
            <a:endParaRPr lang="ru-RU" sz="125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6"/>
          <p:cNvGrpSpPr/>
          <p:nvPr/>
        </p:nvGrpSpPr>
        <p:grpSpPr>
          <a:xfrm>
            <a:off x="781235" y="1152582"/>
            <a:ext cx="4780492" cy="4620683"/>
            <a:chOff x="408431" y="1133855"/>
            <a:chExt cx="5736590" cy="5544820"/>
          </a:xfrm>
        </p:grpSpPr>
        <p:sp>
          <p:nvSpPr>
            <p:cNvPr id="17" name="object 7"/>
            <p:cNvSpPr/>
            <p:nvPr/>
          </p:nvSpPr>
          <p:spPr>
            <a:xfrm>
              <a:off x="408431" y="1133855"/>
              <a:ext cx="5736590" cy="3182620"/>
            </a:xfrm>
            <a:custGeom>
              <a:avLst/>
              <a:gdLst/>
              <a:ahLst/>
              <a:cxnLst/>
              <a:rect l="l" t="t" r="r" b="b"/>
              <a:pathLst>
                <a:path w="5736590" h="3182620">
                  <a:moveTo>
                    <a:pt x="5736335" y="3182111"/>
                  </a:moveTo>
                  <a:lnTo>
                    <a:pt x="0" y="3182111"/>
                  </a:lnTo>
                  <a:lnTo>
                    <a:pt x="0" y="0"/>
                  </a:lnTo>
                  <a:lnTo>
                    <a:pt x="5736335" y="0"/>
                  </a:lnTo>
                  <a:lnTo>
                    <a:pt x="5736335" y="171068"/>
                  </a:lnTo>
                  <a:lnTo>
                    <a:pt x="315467" y="171068"/>
                  </a:lnTo>
                  <a:lnTo>
                    <a:pt x="305146" y="171567"/>
                  </a:lnTo>
                  <a:lnTo>
                    <a:pt x="266027" y="183454"/>
                  </a:lnTo>
                  <a:lnTo>
                    <a:pt x="234434" y="209407"/>
                  </a:lnTo>
                  <a:lnTo>
                    <a:pt x="215179" y="245474"/>
                  </a:lnTo>
                  <a:lnTo>
                    <a:pt x="210692" y="275843"/>
                  </a:lnTo>
                  <a:lnTo>
                    <a:pt x="210692" y="2828543"/>
                  </a:lnTo>
                  <a:lnTo>
                    <a:pt x="218668" y="2868639"/>
                  </a:lnTo>
                  <a:lnTo>
                    <a:pt x="241380" y="2902630"/>
                  </a:lnTo>
                  <a:lnTo>
                    <a:pt x="275372" y="2925342"/>
                  </a:lnTo>
                  <a:lnTo>
                    <a:pt x="315467" y="2933318"/>
                  </a:lnTo>
                  <a:lnTo>
                    <a:pt x="5736335" y="2933318"/>
                  </a:lnTo>
                  <a:lnTo>
                    <a:pt x="5736335" y="3182111"/>
                  </a:lnTo>
                  <a:close/>
                </a:path>
                <a:path w="5736590" h="3182620">
                  <a:moveTo>
                    <a:pt x="5736335" y="2933318"/>
                  </a:moveTo>
                  <a:lnTo>
                    <a:pt x="5420867" y="2933318"/>
                  </a:lnTo>
                  <a:lnTo>
                    <a:pt x="5431188" y="2932820"/>
                  </a:lnTo>
                  <a:lnTo>
                    <a:pt x="5441311" y="2931324"/>
                  </a:lnTo>
                  <a:lnTo>
                    <a:pt x="5479087" y="2915676"/>
                  </a:lnTo>
                  <a:lnTo>
                    <a:pt x="5508000" y="2886764"/>
                  </a:lnTo>
                  <a:lnTo>
                    <a:pt x="5523648" y="2848988"/>
                  </a:lnTo>
                  <a:lnTo>
                    <a:pt x="5525642" y="2828543"/>
                  </a:lnTo>
                  <a:lnTo>
                    <a:pt x="5525642" y="275843"/>
                  </a:lnTo>
                  <a:lnTo>
                    <a:pt x="5517666" y="235748"/>
                  </a:lnTo>
                  <a:lnTo>
                    <a:pt x="5494954" y="201756"/>
                  </a:lnTo>
                  <a:lnTo>
                    <a:pt x="5460962" y="179044"/>
                  </a:lnTo>
                  <a:lnTo>
                    <a:pt x="5420867" y="171068"/>
                  </a:lnTo>
                  <a:lnTo>
                    <a:pt x="5736335" y="171068"/>
                  </a:lnTo>
                  <a:lnTo>
                    <a:pt x="5736335" y="293331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8" name="object 8"/>
            <p:cNvSpPr/>
            <p:nvPr/>
          </p:nvSpPr>
          <p:spPr>
            <a:xfrm>
              <a:off x="609599" y="1295399"/>
              <a:ext cx="5334000" cy="2781300"/>
            </a:xfrm>
            <a:custGeom>
              <a:avLst/>
              <a:gdLst/>
              <a:ahLst/>
              <a:cxnLst/>
              <a:rect l="l" t="t" r="r" b="b"/>
              <a:pathLst>
                <a:path w="5334000" h="2781300">
                  <a:moveTo>
                    <a:pt x="5227204" y="2781299"/>
                  </a:moveTo>
                  <a:lnTo>
                    <a:pt x="106795" y="2781299"/>
                  </a:lnTo>
                  <a:lnTo>
                    <a:pt x="99362" y="2780567"/>
                  </a:lnTo>
                  <a:lnTo>
                    <a:pt x="57038" y="2766205"/>
                  </a:lnTo>
                  <a:lnTo>
                    <a:pt x="23432" y="2736741"/>
                  </a:lnTo>
                  <a:lnTo>
                    <a:pt x="3660" y="2696659"/>
                  </a:lnTo>
                  <a:lnTo>
                    <a:pt x="0" y="2674504"/>
                  </a:lnTo>
                  <a:lnTo>
                    <a:pt x="0" y="26669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5227204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2674504"/>
                  </a:lnTo>
                  <a:lnTo>
                    <a:pt x="5322426" y="2717673"/>
                  </a:lnTo>
                  <a:lnTo>
                    <a:pt x="5295214" y="2753128"/>
                  </a:lnTo>
                  <a:lnTo>
                    <a:pt x="5256506" y="2775470"/>
                  </a:lnTo>
                  <a:lnTo>
                    <a:pt x="5234637" y="2780567"/>
                  </a:lnTo>
                  <a:lnTo>
                    <a:pt x="5227204" y="2781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9" name="object 9"/>
            <p:cNvSpPr/>
            <p:nvPr/>
          </p:nvSpPr>
          <p:spPr>
            <a:xfrm>
              <a:off x="408431" y="4142231"/>
              <a:ext cx="5736590" cy="2536190"/>
            </a:xfrm>
            <a:custGeom>
              <a:avLst/>
              <a:gdLst/>
              <a:ahLst/>
              <a:cxnLst/>
              <a:rect l="l" t="t" r="r" b="b"/>
              <a:pathLst>
                <a:path w="5736590" h="2536190">
                  <a:moveTo>
                    <a:pt x="5736335" y="2535935"/>
                  </a:moveTo>
                  <a:lnTo>
                    <a:pt x="0" y="2535935"/>
                  </a:lnTo>
                  <a:lnTo>
                    <a:pt x="0" y="0"/>
                  </a:lnTo>
                  <a:lnTo>
                    <a:pt x="5736335" y="0"/>
                  </a:lnTo>
                  <a:lnTo>
                    <a:pt x="5736335" y="172592"/>
                  </a:lnTo>
                  <a:lnTo>
                    <a:pt x="315467" y="172592"/>
                  </a:lnTo>
                  <a:lnTo>
                    <a:pt x="305146" y="173091"/>
                  </a:lnTo>
                  <a:lnTo>
                    <a:pt x="266027" y="184978"/>
                  </a:lnTo>
                  <a:lnTo>
                    <a:pt x="234434" y="210931"/>
                  </a:lnTo>
                  <a:lnTo>
                    <a:pt x="215179" y="246998"/>
                  </a:lnTo>
                  <a:lnTo>
                    <a:pt x="210692" y="277367"/>
                  </a:lnTo>
                  <a:lnTo>
                    <a:pt x="210692" y="2182367"/>
                  </a:lnTo>
                  <a:lnTo>
                    <a:pt x="218668" y="2222462"/>
                  </a:lnTo>
                  <a:lnTo>
                    <a:pt x="241380" y="2256454"/>
                  </a:lnTo>
                  <a:lnTo>
                    <a:pt x="275372" y="2279166"/>
                  </a:lnTo>
                  <a:lnTo>
                    <a:pt x="315467" y="2287142"/>
                  </a:lnTo>
                  <a:lnTo>
                    <a:pt x="5736335" y="2287142"/>
                  </a:lnTo>
                  <a:lnTo>
                    <a:pt x="5736335" y="2535935"/>
                  </a:lnTo>
                  <a:close/>
                </a:path>
                <a:path w="5736590" h="2536190">
                  <a:moveTo>
                    <a:pt x="5736335" y="2287142"/>
                  </a:moveTo>
                  <a:lnTo>
                    <a:pt x="5420867" y="2287142"/>
                  </a:lnTo>
                  <a:lnTo>
                    <a:pt x="5431188" y="2286644"/>
                  </a:lnTo>
                  <a:lnTo>
                    <a:pt x="5441311" y="2285148"/>
                  </a:lnTo>
                  <a:lnTo>
                    <a:pt x="5479087" y="2269500"/>
                  </a:lnTo>
                  <a:lnTo>
                    <a:pt x="5508000" y="2240587"/>
                  </a:lnTo>
                  <a:lnTo>
                    <a:pt x="5523648" y="2202811"/>
                  </a:lnTo>
                  <a:lnTo>
                    <a:pt x="5525642" y="2182367"/>
                  </a:lnTo>
                  <a:lnTo>
                    <a:pt x="5525642" y="277367"/>
                  </a:lnTo>
                  <a:lnTo>
                    <a:pt x="5517666" y="237272"/>
                  </a:lnTo>
                  <a:lnTo>
                    <a:pt x="5494954" y="203280"/>
                  </a:lnTo>
                  <a:lnTo>
                    <a:pt x="5460962" y="180568"/>
                  </a:lnTo>
                  <a:lnTo>
                    <a:pt x="5420867" y="172592"/>
                  </a:lnTo>
                  <a:lnTo>
                    <a:pt x="5736335" y="172592"/>
                  </a:lnTo>
                  <a:lnTo>
                    <a:pt x="5736335" y="228714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20" name="object 10"/>
            <p:cNvSpPr/>
            <p:nvPr/>
          </p:nvSpPr>
          <p:spPr>
            <a:xfrm>
              <a:off x="609599" y="4305299"/>
              <a:ext cx="5334000" cy="2133600"/>
            </a:xfrm>
            <a:custGeom>
              <a:avLst/>
              <a:gdLst/>
              <a:ahLst/>
              <a:cxnLst/>
              <a:rect l="l" t="t" r="r" b="b"/>
              <a:pathLst>
                <a:path w="5334000" h="2133600">
                  <a:moveTo>
                    <a:pt x="5227204" y="2133599"/>
                  </a:moveTo>
                  <a:lnTo>
                    <a:pt x="106795" y="2133599"/>
                  </a:lnTo>
                  <a:lnTo>
                    <a:pt x="99362" y="2132867"/>
                  </a:lnTo>
                  <a:lnTo>
                    <a:pt x="57038" y="2118505"/>
                  </a:lnTo>
                  <a:lnTo>
                    <a:pt x="23432" y="2089040"/>
                  </a:lnTo>
                  <a:lnTo>
                    <a:pt x="3660" y="2048959"/>
                  </a:lnTo>
                  <a:lnTo>
                    <a:pt x="0" y="2026804"/>
                  </a:lnTo>
                  <a:lnTo>
                    <a:pt x="0" y="2019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5227204" y="0"/>
                  </a:lnTo>
                  <a:lnTo>
                    <a:pt x="5270373" y="11572"/>
                  </a:lnTo>
                  <a:lnTo>
                    <a:pt x="5305828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2026804"/>
                  </a:lnTo>
                  <a:lnTo>
                    <a:pt x="5322426" y="2069973"/>
                  </a:lnTo>
                  <a:lnTo>
                    <a:pt x="5295214" y="2105428"/>
                  </a:lnTo>
                  <a:lnTo>
                    <a:pt x="5256506" y="2127769"/>
                  </a:lnTo>
                  <a:lnTo>
                    <a:pt x="5234637" y="2132867"/>
                  </a:lnTo>
                  <a:lnTo>
                    <a:pt x="5227204" y="2133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>
                <a:defRPr/>
              </a:pPr>
              <a:endParaRPr sz="1500" kern="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pic>
          <p:nvPicPr>
            <p:cNvPr id="2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4952999"/>
              <a:ext cx="4876799" cy="876299"/>
            </a:xfrm>
            <a:prstGeom prst="rect">
              <a:avLst/>
            </a:prstGeom>
          </p:spPr>
        </p:pic>
      </p:grpSp>
      <p:sp>
        <p:nvSpPr>
          <p:cNvPr id="22" name="Text 0"/>
          <p:cNvSpPr/>
          <p:nvPr/>
        </p:nvSpPr>
        <p:spPr>
          <a:xfrm>
            <a:off x="340359" y="333524"/>
            <a:ext cx="526633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625"/>
              </a:lnSpc>
            </a:pPr>
            <a:r>
              <a:rPr lang="ru-RU" sz="3400" dirty="0">
                <a:solidFill>
                  <a:srgbClr val="1B1B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rben" pitchFamily="34" charset="-120"/>
              </a:rPr>
              <a:t>Метрики путей</a:t>
            </a:r>
            <a:endParaRPr lang="en-US" sz="3400" dirty="0">
              <a:solidFill>
                <a:prstClr val="black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object 12"/>
          <p:cNvSpPr txBox="1"/>
          <p:nvPr/>
        </p:nvSpPr>
        <p:spPr>
          <a:xfrm>
            <a:off x="1129454" y="1372961"/>
            <a:ext cx="3816615" cy="2360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50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Плотность</a:t>
            </a:r>
            <a:endParaRPr lang="ru-RU" sz="150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3"/>
              <p:cNvSpPr txBox="1"/>
              <p:nvPr/>
            </p:nvSpPr>
            <p:spPr>
              <a:xfrm>
                <a:off x="1129454" y="1943807"/>
                <a:ext cx="1293813" cy="510888"/>
              </a:xfrm>
              <a:prstGeom prst="rect">
                <a:avLst/>
              </a:prstGeom>
            </p:spPr>
            <p:txBody>
              <a:bodyPr vert="horz" wrap="square" lIns="0" tIns="10583" rIns="0" bIns="0" rtlCol="0">
                <a:spAutoFit/>
              </a:bodyPr>
              <a:lstStyle/>
              <a:p>
                <a:pPr defTabSz="761970">
                  <a:lnSpc>
                    <a:spcPct val="90000"/>
                  </a:lnSpc>
                  <a:spcBef>
                    <a:spcPts val="833"/>
                  </a:spcBef>
                </a:pPr>
                <a:r>
                  <a:rPr lang="ru-RU" altLang="zh-CN" sz="1250" b="1" dirty="0">
                    <a:solidFill>
                      <a:prstClr val="black"/>
                    </a:solidFill>
                    <a:latin typeface="Liberation Sans"/>
                    <a:ea typeface="等线" panose="02010600030101010101" pitchFamily="2" charset="-122"/>
                  </a:rPr>
                  <a:t>1,8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zh-CN" sz="125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altLang="zh-CN" sz="125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ru-RU" altLang="zh-CN" sz="125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ru-RU" altLang="zh-CN" sz="125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𝟓</m:t>
                        </m:r>
                      </m:sup>
                    </m:sSup>
                  </m:oMath>
                </a14:m>
                <a:endParaRPr lang="ru-RU" sz="1250" b="1" dirty="0">
                  <a:solidFill>
                    <a:prstClr val="black"/>
                  </a:solidFill>
                  <a:latin typeface="Liberation Sans"/>
                  <a:ea typeface="Meiryo" panose="020B0604030504040204" pitchFamily="34" charset="-128"/>
                  <a:cs typeface="Meiryo" panose="020B0604030504040204" pitchFamily="34" charset="-128"/>
                </a:endParaRPr>
              </a:p>
              <a:p>
                <a:pPr marL="10583" defTabSz="761970">
                  <a:spcBef>
                    <a:spcPts val="429"/>
                  </a:spcBef>
                </a:pPr>
                <a:r>
                  <a:rPr lang="ru-RU" sz="875" kern="0" dirty="0">
                    <a:solidFill>
                      <a:srgbClr val="6A7280"/>
                    </a:solidFill>
                    <a:latin typeface="Liberation Sans"/>
                    <a:cs typeface="Liberation Sans"/>
                  </a:rPr>
                  <a:t>Указывает на разреженную структуру</a:t>
                </a:r>
                <a:endParaRPr sz="875" kern="0" dirty="0">
                  <a:solidFill>
                    <a:sysClr val="windowText" lastClr="000000"/>
                  </a:solidFill>
                  <a:latin typeface="Liberation Sans"/>
                  <a:cs typeface="Liberation Sans"/>
                </a:endParaRPr>
              </a:p>
            </p:txBody>
          </p:sp>
        </mc:Choice>
        <mc:Fallback xmlns="">
          <p:sp>
            <p:nvSpPr>
              <p:cNvPr id="24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54" y="1943807"/>
                <a:ext cx="1293813" cy="510888"/>
              </a:xfrm>
              <a:prstGeom prst="rect">
                <a:avLst/>
              </a:prstGeom>
              <a:blipFill>
                <a:blip r:embed="rId3"/>
                <a:stretch>
                  <a:fillRect l="-7512" t="-10714" r="-469" b="-1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7288" y="1626294"/>
            <a:ext cx="2381249" cy="158749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444" y="3033812"/>
            <a:ext cx="11906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137" y="5948613"/>
            <a:ext cx="1444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object 12"/>
          <p:cNvSpPr txBox="1"/>
          <p:nvPr/>
        </p:nvSpPr>
        <p:spPr>
          <a:xfrm>
            <a:off x="3324383" y="3024006"/>
            <a:ext cx="3816615" cy="149507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875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Плотность</a:t>
            </a:r>
            <a:endParaRPr lang="ru-RU" sz="875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31" name="object 12"/>
          <p:cNvSpPr txBox="1"/>
          <p:nvPr/>
        </p:nvSpPr>
        <p:spPr>
          <a:xfrm>
            <a:off x="1129454" y="3875967"/>
            <a:ext cx="3816615" cy="2360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50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Диаметр компоненты</a:t>
            </a:r>
            <a:endParaRPr lang="ru-RU" sz="150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32" name="object 13"/>
          <p:cNvSpPr txBox="1"/>
          <p:nvPr/>
        </p:nvSpPr>
        <p:spPr>
          <a:xfrm>
            <a:off x="1256453" y="4393561"/>
            <a:ext cx="1990437" cy="504411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250" b="1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19</a:t>
            </a:r>
            <a:endParaRPr lang="ru-RU" sz="1250" b="1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marL="10583" defTabSz="761970">
              <a:spcBef>
                <a:spcPts val="429"/>
              </a:spcBef>
            </a:pPr>
            <a:r>
              <a:rPr lang="ru-RU" sz="875" kern="0" dirty="0">
                <a:solidFill>
                  <a:srgbClr val="6A7280"/>
                </a:solidFill>
                <a:latin typeface="Liberation Sans"/>
                <a:cs typeface="Liberation Sans"/>
              </a:rPr>
              <a:t>Очень большое значение указывает на разреженную структуру</a:t>
            </a:r>
            <a:endParaRPr sz="875"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33" name="object 12"/>
          <p:cNvSpPr txBox="1"/>
          <p:nvPr/>
        </p:nvSpPr>
        <p:spPr>
          <a:xfrm>
            <a:off x="1139375" y="5117187"/>
            <a:ext cx="3816615" cy="270694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875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Вершины соединены последовательно, демонстрируя линейные взаимосвязи</a:t>
            </a:r>
            <a:endParaRPr lang="ru-RU" sz="875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grpSp>
        <p:nvGrpSpPr>
          <p:cNvPr id="34" name="object 15"/>
          <p:cNvGrpSpPr/>
          <p:nvPr/>
        </p:nvGrpSpPr>
        <p:grpSpPr>
          <a:xfrm>
            <a:off x="6318304" y="1152582"/>
            <a:ext cx="4808193" cy="4593334"/>
            <a:chOff x="6047231" y="1133855"/>
            <a:chExt cx="5736590" cy="5443770"/>
          </a:xfrm>
        </p:grpSpPr>
        <p:sp>
          <p:nvSpPr>
            <p:cNvPr id="35" name="object 16"/>
            <p:cNvSpPr/>
            <p:nvPr/>
          </p:nvSpPr>
          <p:spPr>
            <a:xfrm>
              <a:off x="6047231" y="1133855"/>
              <a:ext cx="5736590" cy="2496820"/>
            </a:xfrm>
            <a:custGeom>
              <a:avLst/>
              <a:gdLst/>
              <a:ahLst/>
              <a:cxnLst/>
              <a:rect l="l" t="t" r="r" b="b"/>
              <a:pathLst>
                <a:path w="5736590" h="2496820">
                  <a:moveTo>
                    <a:pt x="5736335" y="2496311"/>
                  </a:moveTo>
                  <a:lnTo>
                    <a:pt x="0" y="2496311"/>
                  </a:lnTo>
                  <a:lnTo>
                    <a:pt x="0" y="0"/>
                  </a:lnTo>
                  <a:lnTo>
                    <a:pt x="5736335" y="0"/>
                  </a:lnTo>
                  <a:lnTo>
                    <a:pt x="5736335" y="171068"/>
                  </a:lnTo>
                  <a:lnTo>
                    <a:pt x="315467" y="171068"/>
                  </a:lnTo>
                  <a:lnTo>
                    <a:pt x="305146" y="171567"/>
                  </a:lnTo>
                  <a:lnTo>
                    <a:pt x="266026" y="183454"/>
                  </a:lnTo>
                  <a:lnTo>
                    <a:pt x="234434" y="209407"/>
                  </a:lnTo>
                  <a:lnTo>
                    <a:pt x="215178" y="245474"/>
                  </a:lnTo>
                  <a:lnTo>
                    <a:pt x="210692" y="275843"/>
                  </a:lnTo>
                  <a:lnTo>
                    <a:pt x="210692" y="2142743"/>
                  </a:lnTo>
                  <a:lnTo>
                    <a:pt x="218668" y="2182838"/>
                  </a:lnTo>
                  <a:lnTo>
                    <a:pt x="241380" y="2216830"/>
                  </a:lnTo>
                  <a:lnTo>
                    <a:pt x="275371" y="2239542"/>
                  </a:lnTo>
                  <a:lnTo>
                    <a:pt x="315467" y="2247518"/>
                  </a:lnTo>
                  <a:lnTo>
                    <a:pt x="5736335" y="2247518"/>
                  </a:lnTo>
                  <a:lnTo>
                    <a:pt x="5736335" y="2496311"/>
                  </a:lnTo>
                  <a:close/>
                </a:path>
                <a:path w="5736590" h="2496820">
                  <a:moveTo>
                    <a:pt x="5736335" y="2247518"/>
                  </a:moveTo>
                  <a:lnTo>
                    <a:pt x="5420867" y="2247518"/>
                  </a:lnTo>
                  <a:lnTo>
                    <a:pt x="5431188" y="2247020"/>
                  </a:lnTo>
                  <a:lnTo>
                    <a:pt x="5441310" y="2245524"/>
                  </a:lnTo>
                  <a:lnTo>
                    <a:pt x="5479086" y="2229876"/>
                  </a:lnTo>
                  <a:lnTo>
                    <a:pt x="5507999" y="2200964"/>
                  </a:lnTo>
                  <a:lnTo>
                    <a:pt x="5523647" y="2163188"/>
                  </a:lnTo>
                  <a:lnTo>
                    <a:pt x="5525642" y="2142743"/>
                  </a:lnTo>
                  <a:lnTo>
                    <a:pt x="5525642" y="275843"/>
                  </a:lnTo>
                  <a:lnTo>
                    <a:pt x="5517665" y="235748"/>
                  </a:lnTo>
                  <a:lnTo>
                    <a:pt x="5494953" y="201756"/>
                  </a:lnTo>
                  <a:lnTo>
                    <a:pt x="5460961" y="179044"/>
                  </a:lnTo>
                  <a:lnTo>
                    <a:pt x="5420867" y="171068"/>
                  </a:lnTo>
                  <a:lnTo>
                    <a:pt x="5736335" y="171068"/>
                  </a:lnTo>
                  <a:lnTo>
                    <a:pt x="5736335" y="224751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object 17"/>
            <p:cNvSpPr/>
            <p:nvPr/>
          </p:nvSpPr>
          <p:spPr>
            <a:xfrm>
              <a:off x="6248398" y="1295399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5227205" y="2095499"/>
                  </a:moveTo>
                  <a:lnTo>
                    <a:pt x="106795" y="2095499"/>
                  </a:lnTo>
                  <a:lnTo>
                    <a:pt x="99362" y="2094767"/>
                  </a:lnTo>
                  <a:lnTo>
                    <a:pt x="57038" y="2080405"/>
                  </a:lnTo>
                  <a:lnTo>
                    <a:pt x="23432" y="2050941"/>
                  </a:lnTo>
                  <a:lnTo>
                    <a:pt x="3659" y="2010859"/>
                  </a:lnTo>
                  <a:lnTo>
                    <a:pt x="0" y="1988704"/>
                  </a:lnTo>
                  <a:lnTo>
                    <a:pt x="0" y="19811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5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227205" y="0"/>
                  </a:lnTo>
                  <a:lnTo>
                    <a:pt x="5270372" y="11572"/>
                  </a:lnTo>
                  <a:lnTo>
                    <a:pt x="5305827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1988704"/>
                  </a:lnTo>
                  <a:lnTo>
                    <a:pt x="5322425" y="2031873"/>
                  </a:lnTo>
                  <a:lnTo>
                    <a:pt x="5295214" y="2067328"/>
                  </a:lnTo>
                  <a:lnTo>
                    <a:pt x="5256506" y="2089670"/>
                  </a:lnTo>
                  <a:lnTo>
                    <a:pt x="5234637" y="2094767"/>
                  </a:lnTo>
                  <a:lnTo>
                    <a:pt x="5227205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object 18"/>
            <p:cNvSpPr/>
            <p:nvPr/>
          </p:nvSpPr>
          <p:spPr>
            <a:xfrm>
              <a:off x="6476999" y="1841481"/>
              <a:ext cx="4876800" cy="876300"/>
            </a:xfrm>
            <a:custGeom>
              <a:avLst/>
              <a:gdLst/>
              <a:ahLst/>
              <a:cxnLst/>
              <a:rect l="l" t="t" r="r" b="b"/>
              <a:pathLst>
                <a:path w="4876800" h="876300">
                  <a:moveTo>
                    <a:pt x="4805602" y="876299"/>
                  </a:moveTo>
                  <a:lnTo>
                    <a:pt x="71196" y="876299"/>
                  </a:lnTo>
                  <a:lnTo>
                    <a:pt x="66240" y="875811"/>
                  </a:lnTo>
                  <a:lnTo>
                    <a:pt x="29705" y="860677"/>
                  </a:lnTo>
                  <a:lnTo>
                    <a:pt x="3885" y="824637"/>
                  </a:lnTo>
                  <a:lnTo>
                    <a:pt x="0" y="805103"/>
                  </a:lnTo>
                  <a:lnTo>
                    <a:pt x="0" y="800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805602" y="0"/>
                  </a:lnTo>
                  <a:lnTo>
                    <a:pt x="4847093" y="15621"/>
                  </a:lnTo>
                  <a:lnTo>
                    <a:pt x="4872912" y="51661"/>
                  </a:lnTo>
                  <a:lnTo>
                    <a:pt x="4876798" y="71196"/>
                  </a:lnTo>
                  <a:lnTo>
                    <a:pt x="4876798" y="805103"/>
                  </a:lnTo>
                  <a:lnTo>
                    <a:pt x="4861177" y="846594"/>
                  </a:lnTo>
                  <a:lnTo>
                    <a:pt x="4825137" y="872413"/>
                  </a:lnTo>
                  <a:lnTo>
                    <a:pt x="4810558" y="875811"/>
                  </a:lnTo>
                  <a:lnTo>
                    <a:pt x="4805602" y="8762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object 19"/>
            <p:cNvSpPr/>
            <p:nvPr/>
          </p:nvSpPr>
          <p:spPr>
            <a:xfrm>
              <a:off x="6047231" y="3456430"/>
              <a:ext cx="5736590" cy="3121195"/>
            </a:xfrm>
            <a:custGeom>
              <a:avLst/>
              <a:gdLst/>
              <a:ahLst/>
              <a:cxnLst/>
              <a:rect l="l" t="t" r="r" b="b"/>
              <a:pathLst>
                <a:path w="5736590" h="2192020">
                  <a:moveTo>
                    <a:pt x="5736335" y="2191511"/>
                  </a:moveTo>
                  <a:lnTo>
                    <a:pt x="0" y="2191511"/>
                  </a:lnTo>
                  <a:lnTo>
                    <a:pt x="0" y="0"/>
                  </a:lnTo>
                  <a:lnTo>
                    <a:pt x="5736335" y="0"/>
                  </a:lnTo>
                  <a:lnTo>
                    <a:pt x="5736335" y="172592"/>
                  </a:lnTo>
                  <a:lnTo>
                    <a:pt x="315467" y="172592"/>
                  </a:lnTo>
                  <a:lnTo>
                    <a:pt x="305146" y="173091"/>
                  </a:lnTo>
                  <a:lnTo>
                    <a:pt x="266026" y="184978"/>
                  </a:lnTo>
                  <a:lnTo>
                    <a:pt x="234434" y="210931"/>
                  </a:lnTo>
                  <a:lnTo>
                    <a:pt x="215178" y="246998"/>
                  </a:lnTo>
                  <a:lnTo>
                    <a:pt x="210692" y="277367"/>
                  </a:lnTo>
                  <a:lnTo>
                    <a:pt x="210692" y="1839467"/>
                  </a:lnTo>
                  <a:lnTo>
                    <a:pt x="218668" y="1879562"/>
                  </a:lnTo>
                  <a:lnTo>
                    <a:pt x="241380" y="1913554"/>
                  </a:lnTo>
                  <a:lnTo>
                    <a:pt x="275371" y="1936266"/>
                  </a:lnTo>
                  <a:lnTo>
                    <a:pt x="315467" y="1944242"/>
                  </a:lnTo>
                  <a:lnTo>
                    <a:pt x="5736335" y="1944242"/>
                  </a:lnTo>
                  <a:lnTo>
                    <a:pt x="5736335" y="2191511"/>
                  </a:lnTo>
                  <a:close/>
                </a:path>
                <a:path w="5736590" h="2192020">
                  <a:moveTo>
                    <a:pt x="5736335" y="1944242"/>
                  </a:moveTo>
                  <a:lnTo>
                    <a:pt x="5420867" y="1944242"/>
                  </a:lnTo>
                  <a:lnTo>
                    <a:pt x="5431188" y="1943744"/>
                  </a:lnTo>
                  <a:lnTo>
                    <a:pt x="5441310" y="1942248"/>
                  </a:lnTo>
                  <a:lnTo>
                    <a:pt x="5479086" y="1926600"/>
                  </a:lnTo>
                  <a:lnTo>
                    <a:pt x="5507999" y="1897687"/>
                  </a:lnTo>
                  <a:lnTo>
                    <a:pt x="5523647" y="1859911"/>
                  </a:lnTo>
                  <a:lnTo>
                    <a:pt x="5525642" y="1839467"/>
                  </a:lnTo>
                  <a:lnTo>
                    <a:pt x="5525642" y="277367"/>
                  </a:lnTo>
                  <a:lnTo>
                    <a:pt x="5517665" y="237271"/>
                  </a:lnTo>
                  <a:lnTo>
                    <a:pt x="5494953" y="203280"/>
                  </a:lnTo>
                  <a:lnTo>
                    <a:pt x="5460961" y="180568"/>
                  </a:lnTo>
                  <a:lnTo>
                    <a:pt x="5420867" y="172592"/>
                  </a:lnTo>
                  <a:lnTo>
                    <a:pt x="5736335" y="172592"/>
                  </a:lnTo>
                  <a:lnTo>
                    <a:pt x="5736335" y="1944242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" name="object 20"/>
            <p:cNvSpPr/>
            <p:nvPr/>
          </p:nvSpPr>
          <p:spPr>
            <a:xfrm>
              <a:off x="6248398" y="3619499"/>
              <a:ext cx="5334000" cy="2603996"/>
            </a:xfrm>
            <a:custGeom>
              <a:avLst/>
              <a:gdLst/>
              <a:ahLst/>
              <a:cxnLst/>
              <a:rect l="l" t="t" r="r" b="b"/>
              <a:pathLst>
                <a:path w="5334000" h="1790700">
                  <a:moveTo>
                    <a:pt x="5227205" y="1790699"/>
                  </a:moveTo>
                  <a:lnTo>
                    <a:pt x="106795" y="1790699"/>
                  </a:lnTo>
                  <a:lnTo>
                    <a:pt x="99362" y="1789967"/>
                  </a:lnTo>
                  <a:lnTo>
                    <a:pt x="57038" y="1775605"/>
                  </a:lnTo>
                  <a:lnTo>
                    <a:pt x="23432" y="1746140"/>
                  </a:lnTo>
                  <a:lnTo>
                    <a:pt x="3659" y="1706059"/>
                  </a:lnTo>
                  <a:lnTo>
                    <a:pt x="0" y="1683904"/>
                  </a:lnTo>
                  <a:lnTo>
                    <a:pt x="0" y="16763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5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227205" y="0"/>
                  </a:lnTo>
                  <a:lnTo>
                    <a:pt x="5270372" y="11572"/>
                  </a:lnTo>
                  <a:lnTo>
                    <a:pt x="5305827" y="38784"/>
                  </a:lnTo>
                  <a:lnTo>
                    <a:pt x="5328170" y="77492"/>
                  </a:lnTo>
                  <a:lnTo>
                    <a:pt x="5333999" y="106794"/>
                  </a:lnTo>
                  <a:lnTo>
                    <a:pt x="5333999" y="1683904"/>
                  </a:lnTo>
                  <a:lnTo>
                    <a:pt x="5322425" y="1727074"/>
                  </a:lnTo>
                  <a:lnTo>
                    <a:pt x="5295214" y="1762528"/>
                  </a:lnTo>
                  <a:lnTo>
                    <a:pt x="5256506" y="1784869"/>
                  </a:lnTo>
                  <a:lnTo>
                    <a:pt x="5234637" y="1789967"/>
                  </a:lnTo>
                  <a:lnTo>
                    <a:pt x="5227205" y="179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1" name="object 12"/>
          <p:cNvSpPr txBox="1"/>
          <p:nvPr/>
        </p:nvSpPr>
        <p:spPr>
          <a:xfrm>
            <a:off x="6678998" y="1390225"/>
            <a:ext cx="3816615" cy="2360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500" dirty="0" err="1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Псевдодиаметр</a:t>
            </a:r>
            <a:endParaRPr lang="ru-RU" sz="150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2" name="object 13"/>
          <p:cNvSpPr txBox="1"/>
          <p:nvPr/>
        </p:nvSpPr>
        <p:spPr>
          <a:xfrm>
            <a:off x="6774549" y="1892015"/>
            <a:ext cx="1563149" cy="369759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250" b="1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76</a:t>
            </a:r>
            <a:endParaRPr lang="ru-RU" sz="1250" b="1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marL="10583" defTabSz="761970">
              <a:spcBef>
                <a:spcPts val="429"/>
              </a:spcBef>
            </a:pPr>
            <a:r>
              <a:rPr lang="ru-RU" sz="875" kern="0" dirty="0">
                <a:solidFill>
                  <a:srgbClr val="6A7280"/>
                </a:solidFill>
                <a:latin typeface="Liberation Sans"/>
                <a:cs typeface="Liberation Sans"/>
              </a:rPr>
              <a:t>Очень большое значение</a:t>
            </a:r>
            <a:endParaRPr sz="875" kern="0" dirty="0">
              <a:solidFill>
                <a:sysClr val="windowText" lastClr="000000"/>
              </a:solidFill>
              <a:latin typeface="Liberation Sans"/>
              <a:cs typeface="Liberation Sans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6710082" y="3342286"/>
            <a:ext cx="190526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61970"/>
            <a:r>
              <a:rPr lang="ru-RU" altLang="zh-CN" sz="150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Ключевые выводы:</a:t>
            </a:r>
            <a:endParaRPr lang="ru-RU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object 12"/>
          <p:cNvSpPr txBox="1"/>
          <p:nvPr/>
        </p:nvSpPr>
        <p:spPr>
          <a:xfrm>
            <a:off x="6726723" y="3800575"/>
            <a:ext cx="3816615" cy="3745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График показывает структуру разреженных связей</a:t>
            </a:r>
            <a:endParaRPr lang="ru-RU" sz="125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5" name="object 12"/>
          <p:cNvSpPr txBox="1"/>
          <p:nvPr/>
        </p:nvSpPr>
        <p:spPr>
          <a:xfrm>
            <a:off x="6726723" y="4355253"/>
            <a:ext cx="3816615" cy="201444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marL="285739" indent="-285739" defTabSz="761970">
              <a:lnSpc>
                <a:spcPct val="90000"/>
              </a:lnSpc>
              <a:spcBef>
                <a:spcPts val="833"/>
              </a:spcBef>
              <a:buFont typeface="Wingdings" panose="05000000000000000000" pitchFamily="2" charset="2"/>
              <a:buChar char="q"/>
            </a:pPr>
            <a:r>
              <a:rPr lang="ru-RU" altLang="zh-CN" sz="1250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Длинные пути между удаленными узлами</a:t>
            </a:r>
            <a:endParaRPr lang="ru-RU" sz="1250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7" name="object 12"/>
          <p:cNvSpPr txBox="1"/>
          <p:nvPr/>
        </p:nvSpPr>
        <p:spPr>
          <a:xfrm>
            <a:off x="6678518" y="2624812"/>
            <a:ext cx="3816615" cy="270694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875" dirty="0">
                <a:solidFill>
                  <a:prstClr val="black"/>
                </a:solidFill>
                <a:latin typeface="Liberation Sans"/>
                <a:ea typeface="等线" panose="02010600030101010101" pitchFamily="2" charset="-122"/>
              </a:rPr>
              <a:t>Также говорит о том, что структура разреженная, вершины соединены в последовательности</a:t>
            </a:r>
            <a:endParaRPr lang="ru-RU" sz="875" dirty="0">
              <a:solidFill>
                <a:prstClr val="black"/>
              </a:solidFill>
              <a:latin typeface="Liberation Sans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118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340359" y="333524"/>
            <a:ext cx="526633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625"/>
              </a:lnSpc>
            </a:pPr>
            <a:r>
              <a:rPr lang="ru-RU" sz="3400" dirty="0">
                <a:solidFill>
                  <a:srgbClr val="1B1B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rben" pitchFamily="34" charset="-120"/>
              </a:rPr>
              <a:t>Структурные метрики</a:t>
            </a:r>
            <a:endParaRPr lang="en-US" sz="3400" dirty="0">
              <a:solidFill>
                <a:prstClr val="black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7" name="object 5"/>
          <p:cNvGrpSpPr/>
          <p:nvPr/>
        </p:nvGrpSpPr>
        <p:grpSpPr>
          <a:xfrm>
            <a:off x="1533292" y="1214119"/>
            <a:ext cx="3215746" cy="4064000"/>
            <a:chOff x="408431" y="1133855"/>
            <a:chExt cx="3858895" cy="4876800"/>
          </a:xfrm>
        </p:grpSpPr>
        <p:sp>
          <p:nvSpPr>
            <p:cNvPr id="18" name="object 6"/>
            <p:cNvSpPr/>
            <p:nvPr/>
          </p:nvSpPr>
          <p:spPr>
            <a:xfrm>
              <a:off x="408431" y="1133855"/>
              <a:ext cx="3858895" cy="4876800"/>
            </a:xfrm>
            <a:custGeom>
              <a:avLst/>
              <a:gdLst/>
              <a:ahLst/>
              <a:cxnLst/>
              <a:rect l="l" t="t" r="r" b="b"/>
              <a:pathLst>
                <a:path w="3858895" h="4876800">
                  <a:moveTo>
                    <a:pt x="3858767" y="4876799"/>
                  </a:moveTo>
                  <a:lnTo>
                    <a:pt x="0" y="4876799"/>
                  </a:lnTo>
                  <a:lnTo>
                    <a:pt x="0" y="0"/>
                  </a:lnTo>
                  <a:lnTo>
                    <a:pt x="3858767" y="0"/>
                  </a:lnTo>
                  <a:lnTo>
                    <a:pt x="3858767" y="171068"/>
                  </a:lnTo>
                  <a:lnTo>
                    <a:pt x="315467" y="171068"/>
                  </a:lnTo>
                  <a:lnTo>
                    <a:pt x="305146" y="171567"/>
                  </a:lnTo>
                  <a:lnTo>
                    <a:pt x="266027" y="183454"/>
                  </a:lnTo>
                  <a:lnTo>
                    <a:pt x="234434" y="209407"/>
                  </a:lnTo>
                  <a:lnTo>
                    <a:pt x="215179" y="245474"/>
                  </a:lnTo>
                  <a:lnTo>
                    <a:pt x="210692" y="275843"/>
                  </a:lnTo>
                  <a:lnTo>
                    <a:pt x="210692" y="4523993"/>
                  </a:lnTo>
                  <a:lnTo>
                    <a:pt x="218668" y="4564088"/>
                  </a:lnTo>
                  <a:lnTo>
                    <a:pt x="241380" y="4598080"/>
                  </a:lnTo>
                  <a:lnTo>
                    <a:pt x="275372" y="4620792"/>
                  </a:lnTo>
                  <a:lnTo>
                    <a:pt x="315467" y="4628768"/>
                  </a:lnTo>
                  <a:lnTo>
                    <a:pt x="3858767" y="4628768"/>
                  </a:lnTo>
                  <a:lnTo>
                    <a:pt x="3858767" y="4876799"/>
                  </a:lnTo>
                  <a:close/>
                </a:path>
                <a:path w="3858895" h="4876800">
                  <a:moveTo>
                    <a:pt x="3858767" y="4628768"/>
                  </a:moveTo>
                  <a:lnTo>
                    <a:pt x="3544442" y="4628768"/>
                  </a:lnTo>
                  <a:lnTo>
                    <a:pt x="3554764" y="4628270"/>
                  </a:lnTo>
                  <a:lnTo>
                    <a:pt x="3564887" y="4626774"/>
                  </a:lnTo>
                  <a:lnTo>
                    <a:pt x="3602663" y="4611126"/>
                  </a:lnTo>
                  <a:lnTo>
                    <a:pt x="3631576" y="4582213"/>
                  </a:lnTo>
                  <a:lnTo>
                    <a:pt x="3647223" y="4544437"/>
                  </a:lnTo>
                  <a:lnTo>
                    <a:pt x="3649217" y="4523993"/>
                  </a:lnTo>
                  <a:lnTo>
                    <a:pt x="3649217" y="275843"/>
                  </a:lnTo>
                  <a:lnTo>
                    <a:pt x="3641242" y="235748"/>
                  </a:lnTo>
                  <a:lnTo>
                    <a:pt x="3618529" y="201756"/>
                  </a:lnTo>
                  <a:lnTo>
                    <a:pt x="3584537" y="179044"/>
                  </a:lnTo>
                  <a:lnTo>
                    <a:pt x="3544442" y="171068"/>
                  </a:lnTo>
                  <a:lnTo>
                    <a:pt x="3858767" y="171068"/>
                  </a:lnTo>
                  <a:lnTo>
                    <a:pt x="3858767" y="462876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object 7"/>
            <p:cNvSpPr/>
            <p:nvPr/>
          </p:nvSpPr>
          <p:spPr>
            <a:xfrm>
              <a:off x="609599" y="1295399"/>
              <a:ext cx="3457575" cy="4476750"/>
            </a:xfrm>
            <a:custGeom>
              <a:avLst/>
              <a:gdLst/>
              <a:ahLst/>
              <a:cxnLst/>
              <a:rect l="l" t="t" r="r" b="b"/>
              <a:pathLst>
                <a:path w="3457575" h="4476750">
                  <a:moveTo>
                    <a:pt x="3350779" y="4476749"/>
                  </a:moveTo>
                  <a:lnTo>
                    <a:pt x="106795" y="4476749"/>
                  </a:lnTo>
                  <a:lnTo>
                    <a:pt x="99362" y="4476017"/>
                  </a:lnTo>
                  <a:lnTo>
                    <a:pt x="57038" y="4461654"/>
                  </a:lnTo>
                  <a:lnTo>
                    <a:pt x="23432" y="4432191"/>
                  </a:lnTo>
                  <a:lnTo>
                    <a:pt x="3660" y="4392108"/>
                  </a:lnTo>
                  <a:lnTo>
                    <a:pt x="0" y="4369954"/>
                  </a:lnTo>
                  <a:lnTo>
                    <a:pt x="0" y="436244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5" y="0"/>
                  </a:lnTo>
                  <a:lnTo>
                    <a:pt x="3350779" y="0"/>
                  </a:lnTo>
                  <a:lnTo>
                    <a:pt x="3393948" y="11572"/>
                  </a:lnTo>
                  <a:lnTo>
                    <a:pt x="3429403" y="38784"/>
                  </a:lnTo>
                  <a:lnTo>
                    <a:pt x="3451745" y="77492"/>
                  </a:lnTo>
                  <a:lnTo>
                    <a:pt x="3457574" y="106794"/>
                  </a:lnTo>
                  <a:lnTo>
                    <a:pt x="3457574" y="4369954"/>
                  </a:lnTo>
                  <a:lnTo>
                    <a:pt x="3446001" y="4413123"/>
                  </a:lnTo>
                  <a:lnTo>
                    <a:pt x="3418789" y="4448578"/>
                  </a:lnTo>
                  <a:lnTo>
                    <a:pt x="3380080" y="4470920"/>
                  </a:lnTo>
                  <a:lnTo>
                    <a:pt x="3358212" y="4476017"/>
                  </a:lnTo>
                  <a:lnTo>
                    <a:pt x="3350779" y="447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0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4476749"/>
              <a:ext cx="3000374" cy="1066799"/>
            </a:xfrm>
            <a:prstGeom prst="rect">
              <a:avLst/>
            </a:prstGeom>
          </p:spPr>
        </p:pic>
      </p:grpSp>
      <p:sp>
        <p:nvSpPr>
          <p:cNvPr id="22" name="object 10"/>
          <p:cNvSpPr txBox="1"/>
          <p:nvPr/>
        </p:nvSpPr>
        <p:spPr>
          <a:xfrm>
            <a:off x="2007849" y="3981344"/>
            <a:ext cx="2284354" cy="815202"/>
          </a:xfrm>
          <a:prstGeom prst="rect">
            <a:avLst/>
          </a:prstGeom>
        </p:spPr>
        <p:txBody>
          <a:bodyPr vert="horz" wrap="square" lIns="0" tIns="129646" rIns="0" bIns="0" rtlCol="0">
            <a:spAutoFit/>
          </a:bodyPr>
          <a:lstStyle/>
          <a:p>
            <a:pPr marL="10583" defTabSz="761970">
              <a:spcBef>
                <a:spcPts val="1021"/>
              </a:spcBef>
            </a:pPr>
            <a:r>
              <a:rPr sz="1250" b="1" spc="-17" dirty="0">
                <a:solidFill>
                  <a:prstClr val="black"/>
                </a:solidFill>
                <a:latin typeface="Liberation Sans"/>
                <a:cs typeface="Liberation Sans"/>
              </a:rPr>
              <a:t>0.54</a:t>
            </a:r>
            <a:endParaRPr sz="1250" dirty="0">
              <a:solidFill>
                <a:prstClr val="black"/>
              </a:solidFill>
              <a:latin typeface="Liberation Sans"/>
              <a:cs typeface="Liberation Sans"/>
            </a:endParaRPr>
          </a:p>
          <a:p>
            <a:pPr marL="10583" marR="4233" defTabSz="761970">
              <a:lnSpc>
                <a:spcPct val="119000"/>
              </a:lnSpc>
              <a:spcBef>
                <a:spcPts val="237"/>
              </a:spcBef>
            </a:pPr>
            <a:r>
              <a:rPr lang="ru-RU" sz="875" dirty="0">
                <a:solidFill>
                  <a:srgbClr val="4A5462"/>
                </a:solidFill>
                <a:latin typeface="Liberation Sans"/>
                <a:cs typeface="Liberation Sans"/>
              </a:rPr>
              <a:t>Высокая взаимность указывает на то, что пары взаимных продуктов образуют сообщества</a:t>
            </a:r>
            <a:endParaRPr sz="875" dirty="0">
              <a:solidFill>
                <a:prstClr val="black"/>
              </a:solidFill>
              <a:latin typeface="Liberation Sans"/>
              <a:cs typeface="Liberation Sans"/>
            </a:endParaRPr>
          </a:p>
        </p:txBody>
      </p:sp>
      <p:grpSp>
        <p:nvGrpSpPr>
          <p:cNvPr id="23" name="object 11"/>
          <p:cNvGrpSpPr/>
          <p:nvPr/>
        </p:nvGrpSpPr>
        <p:grpSpPr>
          <a:xfrm>
            <a:off x="4667652" y="1214119"/>
            <a:ext cx="3210983" cy="4064000"/>
            <a:chOff x="4169663" y="1133855"/>
            <a:chExt cx="3853179" cy="4876800"/>
          </a:xfrm>
        </p:grpSpPr>
        <p:sp>
          <p:nvSpPr>
            <p:cNvPr id="24" name="object 12"/>
            <p:cNvSpPr/>
            <p:nvPr/>
          </p:nvSpPr>
          <p:spPr>
            <a:xfrm>
              <a:off x="4169663" y="1133855"/>
              <a:ext cx="3853179" cy="4876800"/>
            </a:xfrm>
            <a:custGeom>
              <a:avLst/>
              <a:gdLst/>
              <a:ahLst/>
              <a:cxnLst/>
              <a:rect l="l" t="t" r="r" b="b"/>
              <a:pathLst>
                <a:path w="3853179" h="4876800">
                  <a:moveTo>
                    <a:pt x="3852671" y="4876799"/>
                  </a:moveTo>
                  <a:lnTo>
                    <a:pt x="0" y="4876799"/>
                  </a:lnTo>
                  <a:lnTo>
                    <a:pt x="0" y="0"/>
                  </a:lnTo>
                  <a:lnTo>
                    <a:pt x="3852671" y="0"/>
                  </a:lnTo>
                  <a:lnTo>
                    <a:pt x="3852671" y="171068"/>
                  </a:lnTo>
                  <a:lnTo>
                    <a:pt x="316610" y="171068"/>
                  </a:lnTo>
                  <a:lnTo>
                    <a:pt x="306289" y="171567"/>
                  </a:lnTo>
                  <a:lnTo>
                    <a:pt x="267169" y="183454"/>
                  </a:lnTo>
                  <a:lnTo>
                    <a:pt x="235577" y="209407"/>
                  </a:lnTo>
                  <a:lnTo>
                    <a:pt x="216321" y="245474"/>
                  </a:lnTo>
                  <a:lnTo>
                    <a:pt x="211835" y="275843"/>
                  </a:lnTo>
                  <a:lnTo>
                    <a:pt x="211835" y="4523993"/>
                  </a:lnTo>
                  <a:lnTo>
                    <a:pt x="219810" y="4564088"/>
                  </a:lnTo>
                  <a:lnTo>
                    <a:pt x="242523" y="4598080"/>
                  </a:lnTo>
                  <a:lnTo>
                    <a:pt x="276514" y="4620792"/>
                  </a:lnTo>
                  <a:lnTo>
                    <a:pt x="316610" y="4628768"/>
                  </a:lnTo>
                  <a:lnTo>
                    <a:pt x="3852671" y="4628768"/>
                  </a:lnTo>
                  <a:lnTo>
                    <a:pt x="3852671" y="4876799"/>
                  </a:lnTo>
                  <a:close/>
                </a:path>
                <a:path w="3853179" h="4876800">
                  <a:moveTo>
                    <a:pt x="3852671" y="4628768"/>
                  </a:moveTo>
                  <a:lnTo>
                    <a:pt x="3536060" y="4628768"/>
                  </a:lnTo>
                  <a:lnTo>
                    <a:pt x="3546381" y="4628270"/>
                  </a:lnTo>
                  <a:lnTo>
                    <a:pt x="3556504" y="4626774"/>
                  </a:lnTo>
                  <a:lnTo>
                    <a:pt x="3594280" y="4611126"/>
                  </a:lnTo>
                  <a:lnTo>
                    <a:pt x="3623193" y="4582213"/>
                  </a:lnTo>
                  <a:lnTo>
                    <a:pt x="3638841" y="4544437"/>
                  </a:lnTo>
                  <a:lnTo>
                    <a:pt x="3640835" y="4523993"/>
                  </a:lnTo>
                  <a:lnTo>
                    <a:pt x="3640835" y="275843"/>
                  </a:lnTo>
                  <a:lnTo>
                    <a:pt x="3632859" y="235748"/>
                  </a:lnTo>
                  <a:lnTo>
                    <a:pt x="3610147" y="201756"/>
                  </a:lnTo>
                  <a:lnTo>
                    <a:pt x="3576155" y="179044"/>
                  </a:lnTo>
                  <a:lnTo>
                    <a:pt x="3536060" y="171068"/>
                  </a:lnTo>
                  <a:lnTo>
                    <a:pt x="3852671" y="171068"/>
                  </a:lnTo>
                  <a:lnTo>
                    <a:pt x="3852671" y="462876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object 13"/>
            <p:cNvSpPr/>
            <p:nvPr/>
          </p:nvSpPr>
          <p:spPr>
            <a:xfrm>
              <a:off x="4371974" y="1295399"/>
              <a:ext cx="3448050" cy="4476750"/>
            </a:xfrm>
            <a:custGeom>
              <a:avLst/>
              <a:gdLst/>
              <a:ahLst/>
              <a:cxnLst/>
              <a:rect l="l" t="t" r="r" b="b"/>
              <a:pathLst>
                <a:path w="3448050" h="4476750">
                  <a:moveTo>
                    <a:pt x="3341254" y="4476749"/>
                  </a:moveTo>
                  <a:lnTo>
                    <a:pt x="106795" y="4476749"/>
                  </a:lnTo>
                  <a:lnTo>
                    <a:pt x="99361" y="4476017"/>
                  </a:lnTo>
                  <a:lnTo>
                    <a:pt x="57038" y="4461654"/>
                  </a:lnTo>
                  <a:lnTo>
                    <a:pt x="23432" y="4432191"/>
                  </a:lnTo>
                  <a:lnTo>
                    <a:pt x="3659" y="4392108"/>
                  </a:lnTo>
                  <a:lnTo>
                    <a:pt x="0" y="4369954"/>
                  </a:lnTo>
                  <a:lnTo>
                    <a:pt x="0" y="436244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341254" y="0"/>
                  </a:lnTo>
                  <a:lnTo>
                    <a:pt x="3384424" y="11572"/>
                  </a:lnTo>
                  <a:lnTo>
                    <a:pt x="3419877" y="38784"/>
                  </a:lnTo>
                  <a:lnTo>
                    <a:pt x="3442220" y="77492"/>
                  </a:lnTo>
                  <a:lnTo>
                    <a:pt x="3448049" y="106794"/>
                  </a:lnTo>
                  <a:lnTo>
                    <a:pt x="3448049" y="4369954"/>
                  </a:lnTo>
                  <a:lnTo>
                    <a:pt x="3436476" y="4413123"/>
                  </a:lnTo>
                  <a:lnTo>
                    <a:pt x="3409264" y="4448578"/>
                  </a:lnTo>
                  <a:lnTo>
                    <a:pt x="3370556" y="4470920"/>
                  </a:lnTo>
                  <a:lnTo>
                    <a:pt x="3348687" y="4476017"/>
                  </a:lnTo>
                  <a:lnTo>
                    <a:pt x="3341254" y="447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6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0574" y="4476749"/>
              <a:ext cx="2990849" cy="1066799"/>
            </a:xfrm>
            <a:prstGeom prst="rect">
              <a:avLst/>
            </a:prstGeom>
          </p:spPr>
        </p:pic>
      </p:grpSp>
      <p:sp>
        <p:nvSpPr>
          <p:cNvPr id="28" name="object 16"/>
          <p:cNvSpPr txBox="1"/>
          <p:nvPr/>
        </p:nvSpPr>
        <p:spPr>
          <a:xfrm>
            <a:off x="5140432" y="3981344"/>
            <a:ext cx="2183342" cy="751146"/>
          </a:xfrm>
          <a:prstGeom prst="rect">
            <a:avLst/>
          </a:prstGeom>
        </p:spPr>
        <p:txBody>
          <a:bodyPr vert="horz" wrap="square" lIns="0" tIns="129646" rIns="0" bIns="0" rtlCol="0">
            <a:spAutoFit/>
          </a:bodyPr>
          <a:lstStyle/>
          <a:p>
            <a:pPr marL="10583" defTabSz="761970">
              <a:spcBef>
                <a:spcPts val="1021"/>
              </a:spcBef>
            </a:pPr>
            <a:r>
              <a:rPr lang="ru-RU" sz="1875" b="1" dirty="0">
                <a:solidFill>
                  <a:prstClr val="black"/>
                </a:solidFill>
                <a:latin typeface="Liberation Sans"/>
                <a:cs typeface="Liberation Sans"/>
              </a:rPr>
              <a:t>&lt;=0.1</a:t>
            </a:r>
          </a:p>
          <a:p>
            <a:pPr marL="10583" marR="4233" defTabSz="761970">
              <a:lnSpc>
                <a:spcPct val="119000"/>
              </a:lnSpc>
              <a:spcBef>
                <a:spcPts val="237"/>
              </a:spcBef>
            </a:pPr>
            <a:r>
              <a:rPr lang="ru-RU" sz="875" dirty="0">
                <a:solidFill>
                  <a:srgbClr val="4A5462"/>
                </a:solidFill>
                <a:latin typeface="Liberation Sans"/>
                <a:cs typeface="Liberation Sans"/>
              </a:rPr>
              <a:t>Связи формируются благодаря моделям покупок, а не популярности</a:t>
            </a:r>
            <a:endParaRPr sz="875" dirty="0">
              <a:solidFill>
                <a:prstClr val="black"/>
              </a:solidFill>
              <a:latin typeface="Liberation Sans"/>
              <a:cs typeface="Liberation Sans"/>
            </a:endParaRPr>
          </a:p>
        </p:txBody>
      </p:sp>
      <p:grpSp>
        <p:nvGrpSpPr>
          <p:cNvPr id="29" name="object 17"/>
          <p:cNvGrpSpPr/>
          <p:nvPr/>
        </p:nvGrpSpPr>
        <p:grpSpPr>
          <a:xfrm>
            <a:off x="7796933" y="1214119"/>
            <a:ext cx="3215746" cy="4064000"/>
            <a:chOff x="7924800" y="1133855"/>
            <a:chExt cx="3858895" cy="4876800"/>
          </a:xfrm>
        </p:grpSpPr>
        <p:sp>
          <p:nvSpPr>
            <p:cNvPr id="30" name="object 18"/>
            <p:cNvSpPr/>
            <p:nvPr/>
          </p:nvSpPr>
          <p:spPr>
            <a:xfrm>
              <a:off x="7924800" y="1133855"/>
              <a:ext cx="3858895" cy="4876800"/>
            </a:xfrm>
            <a:custGeom>
              <a:avLst/>
              <a:gdLst/>
              <a:ahLst/>
              <a:cxnLst/>
              <a:rect l="l" t="t" r="r" b="b"/>
              <a:pathLst>
                <a:path w="3858895" h="4876800">
                  <a:moveTo>
                    <a:pt x="3858767" y="4876799"/>
                  </a:moveTo>
                  <a:lnTo>
                    <a:pt x="0" y="4876799"/>
                  </a:lnTo>
                  <a:lnTo>
                    <a:pt x="0" y="0"/>
                  </a:lnTo>
                  <a:lnTo>
                    <a:pt x="3858767" y="0"/>
                  </a:lnTo>
                  <a:lnTo>
                    <a:pt x="3858767" y="171068"/>
                  </a:lnTo>
                  <a:lnTo>
                    <a:pt x="314324" y="171068"/>
                  </a:lnTo>
                  <a:lnTo>
                    <a:pt x="304003" y="171567"/>
                  </a:lnTo>
                  <a:lnTo>
                    <a:pt x="264883" y="183454"/>
                  </a:lnTo>
                  <a:lnTo>
                    <a:pt x="233291" y="209407"/>
                  </a:lnTo>
                  <a:lnTo>
                    <a:pt x="214035" y="245474"/>
                  </a:lnTo>
                  <a:lnTo>
                    <a:pt x="209549" y="275843"/>
                  </a:lnTo>
                  <a:lnTo>
                    <a:pt x="209549" y="4523993"/>
                  </a:lnTo>
                  <a:lnTo>
                    <a:pt x="217525" y="4564088"/>
                  </a:lnTo>
                  <a:lnTo>
                    <a:pt x="240237" y="4598080"/>
                  </a:lnTo>
                  <a:lnTo>
                    <a:pt x="274228" y="4620792"/>
                  </a:lnTo>
                  <a:lnTo>
                    <a:pt x="314324" y="4628768"/>
                  </a:lnTo>
                  <a:lnTo>
                    <a:pt x="3858767" y="4628768"/>
                  </a:lnTo>
                  <a:lnTo>
                    <a:pt x="3858767" y="4876799"/>
                  </a:lnTo>
                  <a:close/>
                </a:path>
                <a:path w="3858895" h="4876800">
                  <a:moveTo>
                    <a:pt x="3858767" y="4628768"/>
                  </a:moveTo>
                  <a:lnTo>
                    <a:pt x="3543299" y="4628768"/>
                  </a:lnTo>
                  <a:lnTo>
                    <a:pt x="3553620" y="4628270"/>
                  </a:lnTo>
                  <a:lnTo>
                    <a:pt x="3563742" y="4626774"/>
                  </a:lnTo>
                  <a:lnTo>
                    <a:pt x="3601518" y="4611126"/>
                  </a:lnTo>
                  <a:lnTo>
                    <a:pt x="3630431" y="4582213"/>
                  </a:lnTo>
                  <a:lnTo>
                    <a:pt x="3646079" y="4544437"/>
                  </a:lnTo>
                  <a:lnTo>
                    <a:pt x="3648074" y="4523993"/>
                  </a:lnTo>
                  <a:lnTo>
                    <a:pt x="3648074" y="275843"/>
                  </a:lnTo>
                  <a:lnTo>
                    <a:pt x="3640097" y="235748"/>
                  </a:lnTo>
                  <a:lnTo>
                    <a:pt x="3617385" y="201756"/>
                  </a:lnTo>
                  <a:lnTo>
                    <a:pt x="3583393" y="179044"/>
                  </a:lnTo>
                  <a:lnTo>
                    <a:pt x="3543299" y="171068"/>
                  </a:lnTo>
                  <a:lnTo>
                    <a:pt x="3858767" y="171068"/>
                  </a:lnTo>
                  <a:lnTo>
                    <a:pt x="3858767" y="462876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object 19"/>
            <p:cNvSpPr/>
            <p:nvPr/>
          </p:nvSpPr>
          <p:spPr>
            <a:xfrm>
              <a:off x="8124824" y="1295399"/>
              <a:ext cx="3457575" cy="4476750"/>
            </a:xfrm>
            <a:custGeom>
              <a:avLst/>
              <a:gdLst/>
              <a:ahLst/>
              <a:cxnLst/>
              <a:rect l="l" t="t" r="r" b="b"/>
              <a:pathLst>
                <a:path w="3457575" h="4476750">
                  <a:moveTo>
                    <a:pt x="3350780" y="4476749"/>
                  </a:moveTo>
                  <a:lnTo>
                    <a:pt x="106794" y="4476749"/>
                  </a:lnTo>
                  <a:lnTo>
                    <a:pt x="99361" y="4476017"/>
                  </a:lnTo>
                  <a:lnTo>
                    <a:pt x="57037" y="4461654"/>
                  </a:lnTo>
                  <a:lnTo>
                    <a:pt x="23432" y="4432191"/>
                  </a:lnTo>
                  <a:lnTo>
                    <a:pt x="3659" y="4392108"/>
                  </a:lnTo>
                  <a:lnTo>
                    <a:pt x="0" y="4369954"/>
                  </a:lnTo>
                  <a:lnTo>
                    <a:pt x="0" y="436244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50780" y="0"/>
                  </a:lnTo>
                  <a:lnTo>
                    <a:pt x="3393947" y="11572"/>
                  </a:lnTo>
                  <a:lnTo>
                    <a:pt x="3429402" y="38784"/>
                  </a:lnTo>
                  <a:lnTo>
                    <a:pt x="3451744" y="77492"/>
                  </a:lnTo>
                  <a:lnTo>
                    <a:pt x="3457573" y="106794"/>
                  </a:lnTo>
                  <a:lnTo>
                    <a:pt x="3457573" y="4369954"/>
                  </a:lnTo>
                  <a:lnTo>
                    <a:pt x="3445999" y="4413123"/>
                  </a:lnTo>
                  <a:lnTo>
                    <a:pt x="3418788" y="4448578"/>
                  </a:lnTo>
                  <a:lnTo>
                    <a:pt x="3380080" y="4470920"/>
                  </a:lnTo>
                  <a:lnTo>
                    <a:pt x="3358212" y="4476017"/>
                  </a:lnTo>
                  <a:lnTo>
                    <a:pt x="3350780" y="447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761970"/>
              <a:endParaRPr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2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3424" y="4476749"/>
              <a:ext cx="3000374" cy="1066799"/>
            </a:xfrm>
            <a:prstGeom prst="rect">
              <a:avLst/>
            </a:prstGeom>
          </p:spPr>
        </p:pic>
      </p:grpSp>
      <p:sp>
        <p:nvSpPr>
          <p:cNvPr id="34" name="object 22"/>
          <p:cNvSpPr txBox="1"/>
          <p:nvPr/>
        </p:nvSpPr>
        <p:spPr>
          <a:xfrm>
            <a:off x="8273141" y="3981344"/>
            <a:ext cx="2003954" cy="751146"/>
          </a:xfrm>
          <a:prstGeom prst="rect">
            <a:avLst/>
          </a:prstGeom>
        </p:spPr>
        <p:txBody>
          <a:bodyPr vert="horz" wrap="square" lIns="0" tIns="129646" rIns="0" bIns="0" rtlCol="0">
            <a:spAutoFit/>
          </a:bodyPr>
          <a:lstStyle/>
          <a:p>
            <a:pPr marL="10583" defTabSz="761970">
              <a:spcBef>
                <a:spcPts val="1021"/>
              </a:spcBef>
            </a:pPr>
            <a:r>
              <a:rPr sz="1875" b="1" spc="-17" dirty="0">
                <a:solidFill>
                  <a:prstClr val="black"/>
                </a:solidFill>
                <a:latin typeface="Liberation Sans"/>
                <a:cs typeface="Liberation Sans"/>
              </a:rPr>
              <a:t>0.35</a:t>
            </a:r>
            <a:endParaRPr sz="1875" dirty="0">
              <a:solidFill>
                <a:prstClr val="black"/>
              </a:solidFill>
              <a:latin typeface="Liberation Sans"/>
              <a:cs typeface="Liberation Sans"/>
            </a:endParaRPr>
          </a:p>
          <a:p>
            <a:pPr marL="10583" marR="4233" defTabSz="761970">
              <a:lnSpc>
                <a:spcPct val="119000"/>
              </a:lnSpc>
              <a:spcBef>
                <a:spcPts val="237"/>
              </a:spcBef>
            </a:pPr>
            <a:r>
              <a:rPr lang="ru-RU" sz="875" dirty="0">
                <a:solidFill>
                  <a:srgbClr val="4A5462"/>
                </a:solidFill>
                <a:latin typeface="Liberation Sans"/>
                <a:cs typeface="Liberation Sans"/>
              </a:rPr>
              <a:t>Сильная кластеризация делает кластерный анализ значимым</a:t>
            </a:r>
            <a:endParaRPr sz="875" dirty="0">
              <a:solidFill>
                <a:prstClr val="black"/>
              </a:solidFill>
              <a:latin typeface="Liberation Sans"/>
              <a:cs typeface="Liberation Sans"/>
            </a:endParaRPr>
          </a:p>
        </p:txBody>
      </p:sp>
      <p:sp>
        <p:nvSpPr>
          <p:cNvPr id="35" name="object 12"/>
          <p:cNvSpPr txBox="1"/>
          <p:nvPr/>
        </p:nvSpPr>
        <p:spPr>
          <a:xfrm>
            <a:off x="1756019" y="1350234"/>
            <a:ext cx="2688907" cy="568468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300" dirty="0">
                <a:solidFill>
                  <a:prstClr val="black"/>
                </a:solidFill>
                <a:latin typeface="Franklin Gothic Book" panose="020B0503020102020204" pitchFamily="34" charset="0"/>
                <a:ea typeface="等线" panose="02010600030101010101" pitchFamily="2" charset="-122"/>
              </a:rPr>
              <a:t>Реципрокность(доля взаимных (двусторонних) связей относительно всех возможных)</a:t>
            </a:r>
            <a:endParaRPr lang="ru-RU" sz="1300" dirty="0">
              <a:solidFill>
                <a:prstClr val="black"/>
              </a:solidFill>
              <a:latin typeface="Franklin Gothic Book" panose="020B0503020102020204" pitchFamily="34" charset="0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pic>
        <p:nvPicPr>
          <p:cNvPr id="36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1432" y="1730804"/>
            <a:ext cx="2492374" cy="1984374"/>
          </a:xfrm>
          <a:prstGeom prst="rect">
            <a:avLst/>
          </a:prstGeom>
        </p:spPr>
      </p:pic>
      <p:sp>
        <p:nvSpPr>
          <p:cNvPr id="37" name="object 12"/>
          <p:cNvSpPr txBox="1"/>
          <p:nvPr/>
        </p:nvSpPr>
        <p:spPr>
          <a:xfrm>
            <a:off x="4849884" y="1312737"/>
            <a:ext cx="2779303" cy="748517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300" dirty="0">
                <a:solidFill>
                  <a:prstClr val="black"/>
                </a:solidFill>
                <a:latin typeface="Franklin Gothic Book" panose="020B0503020102020204" pitchFamily="34" charset="0"/>
                <a:ea typeface="等线" panose="02010600030101010101" pitchFamily="2" charset="-122"/>
              </a:rPr>
              <a:t>Коэффициент </a:t>
            </a:r>
            <a:br>
              <a:rPr lang="ru-RU" altLang="zh-CN" sz="1300" dirty="0">
                <a:solidFill>
                  <a:prstClr val="black"/>
                </a:solidFill>
                <a:latin typeface="Franklin Gothic Book" panose="020B0503020102020204" pitchFamily="34" charset="0"/>
                <a:ea typeface="等线" panose="02010600030101010101" pitchFamily="2" charset="-122"/>
              </a:rPr>
            </a:br>
            <a:r>
              <a:rPr lang="ru-RU" altLang="zh-CN" sz="1300" dirty="0">
                <a:solidFill>
                  <a:prstClr val="black"/>
                </a:solidFill>
                <a:latin typeface="Franklin Gothic Book" panose="020B0503020102020204" pitchFamily="34" charset="0"/>
                <a:ea typeface="等线" panose="02010600030101010101" pitchFamily="2" charset="-122"/>
              </a:rPr>
              <a:t>ассортативности(есть ли тенденция у популярных вершин соединяться с другими популярными)</a:t>
            </a:r>
            <a:endParaRPr lang="ru-RU" sz="1300" dirty="0">
              <a:solidFill>
                <a:prstClr val="black"/>
              </a:solidFill>
              <a:latin typeface="Franklin Gothic Book" panose="020B0503020102020204" pitchFamily="34" charset="0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38" name="object 12"/>
          <p:cNvSpPr txBox="1"/>
          <p:nvPr/>
        </p:nvSpPr>
        <p:spPr>
          <a:xfrm>
            <a:off x="8154119" y="1494735"/>
            <a:ext cx="3816615" cy="236069"/>
          </a:xfrm>
          <a:prstGeom prst="rect">
            <a:avLst/>
          </a:prstGeom>
        </p:spPr>
        <p:txBody>
          <a:bodyPr vert="horz" wrap="square" lIns="0" tIns="28046" rIns="0" bIns="0" rtlCol="0">
            <a:spAutoFit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</a:pPr>
            <a:r>
              <a:rPr lang="ru-RU" altLang="zh-CN" sz="1500" dirty="0">
                <a:solidFill>
                  <a:prstClr val="black"/>
                </a:solidFill>
                <a:latin typeface="Franklin Gothic Book" panose="020B0503020102020204" pitchFamily="34" charset="0"/>
                <a:ea typeface="等线" panose="02010600030101010101" pitchFamily="2" charset="-122"/>
              </a:rPr>
              <a:t>Коэффициент кластеризации</a:t>
            </a:r>
            <a:endParaRPr lang="ru-RU" sz="1500" dirty="0">
              <a:solidFill>
                <a:prstClr val="black"/>
              </a:solidFill>
              <a:latin typeface="Franklin Gothic Book" panose="020B0503020102020204" pitchFamily="34" charset="0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pic>
        <p:nvPicPr>
          <p:cNvPr id="39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6744" y="1730803"/>
            <a:ext cx="2492374" cy="1984374"/>
          </a:xfrm>
          <a:prstGeom prst="rect">
            <a:avLst/>
          </a:prstGeom>
        </p:spPr>
      </p:pic>
      <p:pic>
        <p:nvPicPr>
          <p:cNvPr id="40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86018" y="1730802"/>
            <a:ext cx="2492374" cy="1984374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828" y="5913438"/>
            <a:ext cx="32385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22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878912B2-205A-3E85-13D6-8287D44B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3350595"/>
          </a:xfrm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Кластеризация</a:t>
            </a:r>
            <a:br>
              <a:rPr lang="ru-RU" dirty="0"/>
            </a:br>
            <a:r>
              <a:rPr lang="ru-RU" sz="2000" dirty="0"/>
              <a:t>(Количество сообществ: 24717, наибольшее сообщество имеет 1180 вершин)</a:t>
            </a:r>
            <a:endParaRPr lang="x-none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F74D1-885E-4961-AA24-7A658D35919E}"/>
              </a:ext>
            </a:extLst>
          </p:cNvPr>
          <p:cNvSpPr txBox="1"/>
          <p:nvPr/>
        </p:nvSpPr>
        <p:spPr>
          <a:xfrm>
            <a:off x="6185203" y="499735"/>
            <a:ext cx="419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Пример сообщества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25A44-769D-4DCC-9B62-3B0CE504957B}"/>
              </a:ext>
            </a:extLst>
          </p:cNvPr>
          <p:cNvSpPr txBox="1"/>
          <p:nvPr/>
        </p:nvSpPr>
        <p:spPr>
          <a:xfrm>
            <a:off x="125835" y="5419288"/>
            <a:ext cx="5970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Инсайт: Покупатели часто берут товары из одного кластера вместе, можно делать перекрёстные скидки внутри кластеров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725" y="1127088"/>
            <a:ext cx="6127750" cy="4610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941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Ещё 2 сообщества по количеству товаров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1511693"/>
            <a:ext cx="5791200" cy="4406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493851"/>
            <a:ext cx="5512511" cy="431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9793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E7C3E4F-5501-4D9F-B044-C5142AB32CFE}"/>
              </a:ext>
            </a:extLst>
          </p:cNvPr>
          <p:cNvSpPr txBox="1"/>
          <p:nvPr/>
        </p:nvSpPr>
        <p:spPr>
          <a:xfrm>
            <a:off x="2100838" y="230737"/>
            <a:ext cx="799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Центральность узлов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8076FD">
                  <a:lumMod val="75000"/>
                </a:srgbClr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CD1B5-63E1-4848-8BC4-BD6DA2D0C901}"/>
              </a:ext>
            </a:extLst>
          </p:cNvPr>
          <p:cNvSpPr txBox="1"/>
          <p:nvPr/>
        </p:nvSpPr>
        <p:spPr>
          <a:xfrm>
            <a:off x="3639082" y="815512"/>
            <a:ext cx="4913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Товары-хабы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(популярность)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5E8D5015-89AE-4D65-AE3A-9624A917D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117647"/>
              </p:ext>
            </p:extLst>
          </p:nvPr>
        </p:nvGraphicFramePr>
        <p:xfrm>
          <a:off x="760493" y="2075312"/>
          <a:ext cx="10671007" cy="450836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234941">
                  <a:extLst>
                    <a:ext uri="{9D8B030D-6E8A-4147-A177-3AD203B41FA5}">
                      <a16:colId xmlns:a16="http://schemas.microsoft.com/office/drawing/2014/main" val="1588385314"/>
                    </a:ext>
                  </a:extLst>
                </a:gridCol>
                <a:gridCol w="1210709">
                  <a:extLst>
                    <a:ext uri="{9D8B030D-6E8A-4147-A177-3AD203B41FA5}">
                      <a16:colId xmlns:a16="http://schemas.microsoft.com/office/drawing/2014/main" val="1091181486"/>
                    </a:ext>
                  </a:extLst>
                </a:gridCol>
                <a:gridCol w="2072081">
                  <a:extLst>
                    <a:ext uri="{9D8B030D-6E8A-4147-A177-3AD203B41FA5}">
                      <a16:colId xmlns:a16="http://schemas.microsoft.com/office/drawing/2014/main" val="2635076061"/>
                    </a:ext>
                  </a:extLst>
                </a:gridCol>
                <a:gridCol w="2153276">
                  <a:extLst>
                    <a:ext uri="{9D8B030D-6E8A-4147-A177-3AD203B41FA5}">
                      <a16:colId xmlns:a16="http://schemas.microsoft.com/office/drawing/2014/main" val="2661287795"/>
                    </a:ext>
                  </a:extLst>
                </a:gridCol>
              </a:tblGrid>
              <a:tr h="243472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Рейтинг продаж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Входящая степень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100804"/>
                  </a:ext>
                </a:extLst>
              </a:tr>
              <a:tr h="478592">
                <a:tc>
                  <a:txBody>
                    <a:bodyPr/>
                    <a:lstStyle/>
                    <a:p>
                      <a:r>
                        <a:rPr lang="en-US" dirty="0"/>
                        <a:t>Fodor's Australia 2000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793062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13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Harley-Davidson Panheads; 1948-1965/M418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147799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6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Double Jeopardy (T*Witches; 6)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97166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353723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Pilgrim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141107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334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067292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Jorge Negrete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305561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274277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Losing Matt Shepard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277409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035278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The </a:t>
                      </a:r>
                      <a:r>
                        <a:rPr lang="en-US" dirty="0" err="1"/>
                        <a:t>Rurouni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Kenshin</a:t>
                      </a:r>
                      <a:r>
                        <a:rPr lang="en-US" dirty="0"/>
                        <a:t> NB: 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786503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994704"/>
                  </a:ext>
                </a:extLst>
              </a:tr>
              <a:tr h="382761">
                <a:tc>
                  <a:txBody>
                    <a:bodyPr/>
                    <a:lstStyle/>
                    <a:p>
                      <a:r>
                        <a:rPr lang="en-US" dirty="0"/>
                        <a:t>A Major Case: A Novel by Pete Deer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2860756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76883"/>
                  </a:ext>
                </a:extLst>
              </a:tr>
              <a:tr h="377505">
                <a:tc>
                  <a:txBody>
                    <a:bodyPr/>
                    <a:lstStyle/>
                    <a:p>
                      <a:r>
                        <a:rPr lang="en-US" dirty="0"/>
                        <a:t> Writing and Defending a Thesis or Dissertation...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857208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72868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A Touch Of Tranquility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54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1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Топ 2 </a:t>
            </a:r>
            <a:r>
              <a:rPr lang="ru-RU" dirty="0" err="1"/>
              <a:t>хаба</a:t>
            </a:r>
            <a:r>
              <a:rPr lang="ru-RU" dirty="0"/>
              <a:t> и соединяющие их мосты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24" y="1130300"/>
            <a:ext cx="9748651" cy="500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996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65CD1B5-63E1-4848-8BC4-BD6DA2D0C901}"/>
              </a:ext>
            </a:extLst>
          </p:cNvPr>
          <p:cNvSpPr txBox="1"/>
          <p:nvPr/>
        </p:nvSpPr>
        <p:spPr>
          <a:xfrm>
            <a:off x="3639078" y="228283"/>
            <a:ext cx="49138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Ц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ентральность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 по собственному вектору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(влияние)</a:t>
            </a:r>
          </a:p>
        </p:txBody>
      </p:sp>
      <p:graphicFrame>
        <p:nvGraphicFramePr>
          <p:cNvPr id="5" name="Таблица 3">
            <a:extLst>
              <a:ext uri="{FF2B5EF4-FFF2-40B4-BE49-F238E27FC236}">
                <a16:creationId xmlns:a16="http://schemas.microsoft.com/office/drawing/2014/main" id="{F4502701-BB02-4C7B-AF70-3C9D6ADEB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029402"/>
              </p:ext>
            </p:extLst>
          </p:nvPr>
        </p:nvGraphicFramePr>
        <p:xfrm>
          <a:off x="760273" y="1878976"/>
          <a:ext cx="10671440" cy="441006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523081">
                  <a:extLst>
                    <a:ext uri="{9D8B030D-6E8A-4147-A177-3AD203B41FA5}">
                      <a16:colId xmlns:a16="http://schemas.microsoft.com/office/drawing/2014/main" val="1588385314"/>
                    </a:ext>
                  </a:extLst>
                </a:gridCol>
                <a:gridCol w="1033245">
                  <a:extLst>
                    <a:ext uri="{9D8B030D-6E8A-4147-A177-3AD203B41FA5}">
                      <a16:colId xmlns:a16="http://schemas.microsoft.com/office/drawing/2014/main" val="1091181486"/>
                    </a:ext>
                  </a:extLst>
                </a:gridCol>
                <a:gridCol w="1793845">
                  <a:extLst>
                    <a:ext uri="{9D8B030D-6E8A-4147-A177-3AD203B41FA5}">
                      <a16:colId xmlns:a16="http://schemas.microsoft.com/office/drawing/2014/main" val="2635076061"/>
                    </a:ext>
                  </a:extLst>
                </a:gridCol>
                <a:gridCol w="2321269">
                  <a:extLst>
                    <a:ext uri="{9D8B030D-6E8A-4147-A177-3AD203B41FA5}">
                      <a16:colId xmlns:a16="http://schemas.microsoft.com/office/drawing/2014/main" val="2661287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Рейтинг продаж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Собственный вектор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100804"/>
                  </a:ext>
                </a:extLst>
              </a:tr>
              <a:tr h="380289">
                <a:tc>
                  <a:txBody>
                    <a:bodyPr/>
                    <a:lstStyle/>
                    <a:p>
                      <a:r>
                        <a:rPr lang="en-US" dirty="0"/>
                        <a:t>Double Jeopardy (T*Witches;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97166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0.222829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13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BizPricer</a:t>
                      </a:r>
                      <a:r>
                        <a:rPr lang="en-US" dirty="0"/>
                        <a:t>¿ Business Valuation Manual w/Software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1485593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0.207978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6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Losing Matt Shepard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277409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0.204731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353723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The American Heritage Dictionary of Idioms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166549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0.195403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067292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The Narcissistic Family : Diagnosis and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0.176318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274277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Three Bricks Shy of a Load: A Collection of Tr...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2167012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0.164388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035278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The Heavy Flak Guns; 1933-1945: 88Mm; 105Mm; 1...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1369585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0.160788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994704"/>
                  </a:ext>
                </a:extLst>
              </a:tr>
              <a:tr h="382761">
                <a:tc>
                  <a:txBody>
                    <a:bodyPr/>
                    <a:lstStyle/>
                    <a:p>
                      <a:r>
                        <a:rPr lang="en-US" dirty="0"/>
                        <a:t>Strange Fire: A Novel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1277867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0.155777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76883"/>
                  </a:ext>
                </a:extLst>
              </a:tr>
              <a:tr h="377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Music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437762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0.134601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72868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Harley-Davidson Panheads; 1948-1965/M418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147799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0.130498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54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846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E7C3E4F-5501-4D9F-B044-C5142AB32CFE}"/>
              </a:ext>
            </a:extLst>
          </p:cNvPr>
          <p:cNvSpPr txBox="1"/>
          <p:nvPr/>
        </p:nvSpPr>
        <p:spPr>
          <a:xfrm>
            <a:off x="2100841" y="230737"/>
            <a:ext cx="799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Мосты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8076FD">
                  <a:lumMod val="75000"/>
                </a:srgbClr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CD1B5-63E1-4848-8BC4-BD6DA2D0C901}"/>
              </a:ext>
            </a:extLst>
          </p:cNvPr>
          <p:cNvSpPr txBox="1"/>
          <p:nvPr/>
        </p:nvSpPr>
        <p:spPr>
          <a:xfrm>
            <a:off x="3639081" y="815512"/>
            <a:ext cx="49138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Вершины-мосты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(роль вершины в связности графа)</a:t>
            </a:r>
          </a:p>
        </p:txBody>
      </p:sp>
      <p:graphicFrame>
        <p:nvGraphicFramePr>
          <p:cNvPr id="5" name="Таблица 3">
            <a:extLst>
              <a:ext uri="{FF2B5EF4-FFF2-40B4-BE49-F238E27FC236}">
                <a16:creationId xmlns:a16="http://schemas.microsoft.com/office/drawing/2014/main" id="{57892EE2-1BFC-4A16-B6D4-699236F35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799121"/>
              </p:ext>
            </p:extLst>
          </p:nvPr>
        </p:nvGraphicFramePr>
        <p:xfrm>
          <a:off x="760276" y="2217198"/>
          <a:ext cx="10671440" cy="441006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178498">
                  <a:extLst>
                    <a:ext uri="{9D8B030D-6E8A-4147-A177-3AD203B41FA5}">
                      <a16:colId xmlns:a16="http://schemas.microsoft.com/office/drawing/2014/main" val="1588385314"/>
                    </a:ext>
                  </a:extLst>
                </a:gridCol>
                <a:gridCol w="1350628">
                  <a:extLst>
                    <a:ext uri="{9D8B030D-6E8A-4147-A177-3AD203B41FA5}">
                      <a16:colId xmlns:a16="http://schemas.microsoft.com/office/drawing/2014/main" val="1091181486"/>
                    </a:ext>
                  </a:extLst>
                </a:gridCol>
                <a:gridCol w="1812022">
                  <a:extLst>
                    <a:ext uri="{9D8B030D-6E8A-4147-A177-3AD203B41FA5}">
                      <a16:colId xmlns:a16="http://schemas.microsoft.com/office/drawing/2014/main" val="2635076061"/>
                    </a:ext>
                  </a:extLst>
                </a:gridCol>
                <a:gridCol w="2330292">
                  <a:extLst>
                    <a:ext uri="{9D8B030D-6E8A-4147-A177-3AD203B41FA5}">
                      <a16:colId xmlns:a16="http://schemas.microsoft.com/office/drawing/2014/main" val="2661287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Рейтинг продаж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Показатель </a:t>
                      </a:r>
                      <a:r>
                        <a:rPr lang="en-US" dirty="0"/>
                        <a:t>“</a:t>
                      </a:r>
                      <a:r>
                        <a:rPr lang="ru-RU" dirty="0"/>
                        <a:t>моста</a:t>
                      </a:r>
                      <a:r>
                        <a:rPr lang="en-US" dirty="0"/>
                        <a:t>”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100804"/>
                  </a:ext>
                </a:extLst>
              </a:tr>
              <a:tr h="380289">
                <a:tc>
                  <a:txBody>
                    <a:bodyPr/>
                    <a:lstStyle/>
                    <a:p>
                      <a:r>
                        <a:rPr lang="en-US" dirty="0"/>
                        <a:t>The Narcissistic Family : Diagnosis and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0.026840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13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More Than You Think You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Music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766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0.022620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6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Where There Is No Vet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672391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0.019001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353723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If I Were a Man; I'd Marry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807679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0.018453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067292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The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Music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197443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0.018453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274277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The Yellow Fountain (La Fuente Amarilla)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DVD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0.015714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035278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Ultimate Sniper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Video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24375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0.015097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994704"/>
                  </a:ext>
                </a:extLst>
              </a:tr>
              <a:tr h="382761">
                <a:tc>
                  <a:txBody>
                    <a:bodyPr/>
                    <a:lstStyle/>
                    <a:p>
                      <a:r>
                        <a:rPr lang="en-US" dirty="0"/>
                        <a:t>Beowulf: An Imitative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620890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0.014105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76883"/>
                  </a:ext>
                </a:extLst>
              </a:tr>
              <a:tr h="377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A Fourth Treasury of Knitting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91126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0.014015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72868"/>
                  </a:ext>
                </a:extLst>
              </a:tr>
              <a:tr h="434446">
                <a:tc>
                  <a:txBody>
                    <a:bodyPr/>
                    <a:lstStyle/>
                    <a:p>
                      <a:r>
                        <a:rPr lang="en-US" dirty="0"/>
                        <a:t>Museum Governance: Mission Ethics Policy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420082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0.013726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54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52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927CD-1BC4-4FBC-83D1-000363D42B82}"/>
              </a:ext>
            </a:extLst>
          </p:cNvPr>
          <p:cNvSpPr txBox="1"/>
          <p:nvPr/>
        </p:nvSpPr>
        <p:spPr>
          <a:xfrm>
            <a:off x="3705135" y="1521459"/>
            <a:ext cx="478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Виральность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rgbClr val="8076FD">
                  <a:lumMod val="75000"/>
                </a:srgbClr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F069F7-8668-4986-BC0D-3CF39481CA25}"/>
              </a:ext>
            </a:extLst>
          </p:cNvPr>
          <p:cNvSpPr txBox="1"/>
          <p:nvPr/>
        </p:nvSpPr>
        <p:spPr>
          <a:xfrm>
            <a:off x="615191" y="3842236"/>
            <a:ext cx="2374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rgbClr val="8076FD">
                    <a:lumMod val="75000"/>
                  </a:srgbClr>
                </a:solidFill>
                <a:latin typeface="Franklin Gothic Book"/>
              </a:rPr>
              <a:t>Топ 100  по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in_degree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8076FD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Количество связей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8076FD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19FE6-39C8-4D07-8D4E-7839D92FC429}"/>
              </a:ext>
            </a:extLst>
          </p:cNvPr>
          <p:cNvSpPr txBox="1"/>
          <p:nvPr/>
        </p:nvSpPr>
        <p:spPr>
          <a:xfrm>
            <a:off x="4908957" y="3846753"/>
            <a:ext cx="2374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rgbClr val="8076FD">
                    <a:lumMod val="75000"/>
                  </a:srgbClr>
                </a:solidFill>
                <a:latin typeface="Franklin Gothic Book"/>
              </a:rPr>
              <a:t>Топ 100 по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eigenvector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Качество связей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9A5FA-DAE8-47DD-94EE-3EA640F3D569}"/>
              </a:ext>
            </a:extLst>
          </p:cNvPr>
          <p:cNvSpPr txBox="1"/>
          <p:nvPr/>
        </p:nvSpPr>
        <p:spPr>
          <a:xfrm>
            <a:off x="9202723" y="3842236"/>
            <a:ext cx="2803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rgbClr val="8076FD">
                    <a:lumMod val="75000"/>
                  </a:srgbClr>
                </a:solidFill>
                <a:latin typeface="Franklin Gothic Book"/>
              </a:rPr>
              <a:t>Топ 100 по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betweenness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Универсальный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мостик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”)</a:t>
            </a:r>
            <a:endParaRPr kumimoji="0" lang="ru-RU" sz="2400" b="0" i="1" u="none" strike="noStrike" kern="1200" cap="none" spc="0" normalizeH="0" baseline="0" noProof="0" dirty="0">
              <a:ln>
                <a:noFill/>
              </a:ln>
              <a:solidFill>
                <a:srgbClr val="8076FD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3B97BC70-4D35-4D85-93FC-4873513A7A04}"/>
              </a:ext>
            </a:extLst>
          </p:cNvPr>
          <p:cNvSpPr/>
          <p:nvPr/>
        </p:nvSpPr>
        <p:spPr>
          <a:xfrm rot="5400000">
            <a:off x="5657945" y="-720663"/>
            <a:ext cx="876106" cy="795765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CE0BC-1C56-41BC-A0FF-47A07F775899}"/>
              </a:ext>
            </a:extLst>
          </p:cNvPr>
          <p:cNvSpPr txBox="1"/>
          <p:nvPr/>
        </p:nvSpPr>
        <p:spPr>
          <a:xfrm>
            <a:off x="3676473" y="4223801"/>
            <a:ext cx="54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3C34C-9189-49F5-A9BA-0264C9CD9DAE}"/>
              </a:ext>
            </a:extLst>
          </p:cNvPr>
          <p:cNvSpPr txBox="1"/>
          <p:nvPr/>
        </p:nvSpPr>
        <p:spPr>
          <a:xfrm>
            <a:off x="8214217" y="4223800"/>
            <a:ext cx="54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И</a:t>
            </a:r>
          </a:p>
        </p:txBody>
      </p:sp>
    </p:spTree>
    <p:extLst>
      <p:ext uri="{BB962C8B-B14F-4D97-AF65-F5344CB8AC3E}">
        <p14:creationId xmlns:p14="http://schemas.microsoft.com/office/powerpoint/2010/main" val="105706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ACFD48-B6F4-4E0C-9CE9-1132DADEE9C1}"/>
              </a:ext>
            </a:extLst>
          </p:cNvPr>
          <p:cNvSpPr txBox="1"/>
          <p:nvPr/>
        </p:nvSpPr>
        <p:spPr>
          <a:xfrm>
            <a:off x="2560038" y="302004"/>
            <a:ext cx="707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Виральные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 товары</a:t>
            </a:r>
          </a:p>
        </p:txBody>
      </p:sp>
      <p:graphicFrame>
        <p:nvGraphicFramePr>
          <p:cNvPr id="9" name="Таблица 3">
            <a:extLst>
              <a:ext uri="{FF2B5EF4-FFF2-40B4-BE49-F238E27FC236}">
                <a16:creationId xmlns:a16="http://schemas.microsoft.com/office/drawing/2014/main" id="{892AE7B2-A5A2-4B3C-BD07-BC1AD572C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764762"/>
              </p:ext>
            </p:extLst>
          </p:nvPr>
        </p:nvGraphicFramePr>
        <p:xfrm>
          <a:off x="657500" y="1246253"/>
          <a:ext cx="10876993" cy="515356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937485">
                  <a:extLst>
                    <a:ext uri="{9D8B030D-6E8A-4147-A177-3AD203B41FA5}">
                      <a16:colId xmlns:a16="http://schemas.microsoft.com/office/drawing/2014/main" val="2788100664"/>
                    </a:ext>
                  </a:extLst>
                </a:gridCol>
                <a:gridCol w="765461">
                  <a:extLst>
                    <a:ext uri="{9D8B030D-6E8A-4147-A177-3AD203B41FA5}">
                      <a16:colId xmlns:a16="http://schemas.microsoft.com/office/drawing/2014/main" val="1099082333"/>
                    </a:ext>
                  </a:extLst>
                </a:gridCol>
                <a:gridCol w="1568882">
                  <a:extLst>
                    <a:ext uri="{9D8B030D-6E8A-4147-A177-3AD203B41FA5}">
                      <a16:colId xmlns:a16="http://schemas.microsoft.com/office/drawing/2014/main" val="3479643358"/>
                    </a:ext>
                  </a:extLst>
                </a:gridCol>
                <a:gridCol w="1737201">
                  <a:extLst>
                    <a:ext uri="{9D8B030D-6E8A-4147-A177-3AD203B41FA5}">
                      <a16:colId xmlns:a16="http://schemas.microsoft.com/office/drawing/2014/main" val="456364678"/>
                    </a:ext>
                  </a:extLst>
                </a:gridCol>
                <a:gridCol w="1660952">
                  <a:extLst>
                    <a:ext uri="{9D8B030D-6E8A-4147-A177-3AD203B41FA5}">
                      <a16:colId xmlns:a16="http://schemas.microsoft.com/office/drawing/2014/main" val="3400332522"/>
                    </a:ext>
                  </a:extLst>
                </a:gridCol>
                <a:gridCol w="1207012">
                  <a:extLst>
                    <a:ext uri="{9D8B030D-6E8A-4147-A177-3AD203B41FA5}">
                      <a16:colId xmlns:a16="http://schemas.microsoft.com/office/drawing/2014/main" val="158075834"/>
                    </a:ext>
                  </a:extLst>
                </a:gridCol>
              </a:tblGrid>
              <a:tr h="315032">
                <a:tc>
                  <a:txBody>
                    <a:bodyPr/>
                    <a:lstStyle/>
                    <a:p>
                      <a:r>
                        <a:rPr lang="ru-RU" sz="1300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/>
                        <a:t>Входящая</a:t>
                      </a:r>
                      <a:r>
                        <a:rPr lang="en-US" sz="1300" dirty="0"/>
                        <a:t> </a:t>
                      </a:r>
                      <a:r>
                        <a:rPr lang="ru-RU" sz="1300" dirty="0"/>
                        <a:t>степень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Собственный вектор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Показатель </a:t>
                      </a:r>
                      <a:r>
                        <a:rPr lang="en-US" sz="1300" dirty="0"/>
                        <a:t>“</a:t>
                      </a:r>
                      <a:r>
                        <a:rPr lang="ru-RU" sz="1300" dirty="0"/>
                        <a:t>моста</a:t>
                      </a:r>
                      <a:r>
                        <a:rPr lang="en-US" sz="1300" dirty="0"/>
                        <a:t>”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Сообщество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143837"/>
                  </a:ext>
                </a:extLst>
              </a:tr>
              <a:tr h="310392">
                <a:tc>
                  <a:txBody>
                    <a:bodyPr/>
                    <a:lstStyle/>
                    <a:p>
                      <a:r>
                        <a:rPr lang="en-US" sz="1300" dirty="0"/>
                        <a:t>Losing Matt Shepard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0.204731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0.009378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83466"/>
                  </a:ext>
                </a:extLst>
              </a:tr>
              <a:tr h="285809">
                <a:tc>
                  <a:txBody>
                    <a:bodyPr/>
                    <a:lstStyle/>
                    <a:p>
                      <a:r>
                        <a:rPr lang="en-US" sz="1300" dirty="0"/>
                        <a:t>Sol to Soul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Music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0.042077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0.010892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80336"/>
                  </a:ext>
                </a:extLst>
              </a:tr>
              <a:tr h="306526">
                <a:tc>
                  <a:txBody>
                    <a:bodyPr/>
                    <a:lstStyle/>
                    <a:p>
                      <a:r>
                        <a:rPr lang="en-US" sz="1300" dirty="0"/>
                        <a:t>A Major Case: A Novel by Pete Deer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275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0.058408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0.008954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524269"/>
                  </a:ext>
                </a:extLst>
              </a:tr>
              <a:tr h="295946">
                <a:tc>
                  <a:txBody>
                    <a:bodyPr/>
                    <a:lstStyle/>
                    <a:p>
                      <a:r>
                        <a:rPr lang="en-US" sz="1300" dirty="0"/>
                        <a:t>Accessible 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218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0.072913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0.005335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18541"/>
                  </a:ext>
                </a:extLst>
              </a:tr>
              <a:tr h="215412">
                <a:tc>
                  <a:txBody>
                    <a:bodyPr/>
                    <a:lstStyle/>
                    <a:p>
                      <a:r>
                        <a:rPr lang="en-US" sz="1300" dirty="0"/>
                        <a:t>Gourmet Vinegars: How to Make and Cook With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159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0.040977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0.006324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19288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Music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179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0.134601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0.009153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004751"/>
                  </a:ext>
                </a:extLst>
              </a:tr>
              <a:tr h="283034">
                <a:tc>
                  <a:txBody>
                    <a:bodyPr/>
                    <a:lstStyle/>
                    <a:p>
                      <a:r>
                        <a:rPr lang="en-US" sz="1300" dirty="0"/>
                        <a:t>The Narcissistic Family : Diagnosis and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191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0.176318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/>
                        <a:t>0.026840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134445"/>
                  </a:ext>
                </a:extLst>
              </a:tr>
              <a:tr h="303450">
                <a:tc>
                  <a:txBody>
                    <a:bodyPr/>
                    <a:lstStyle/>
                    <a:p>
                      <a:r>
                        <a:rPr lang="en-US" sz="1300" dirty="0"/>
                        <a:t>I Was Aboard a </a:t>
                      </a:r>
                      <a:r>
                        <a:rPr lang="en-US" sz="1300" dirty="0" err="1"/>
                        <a:t>Ufo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132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0.123827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0.012899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800559"/>
                  </a:ext>
                </a:extLst>
              </a:tr>
              <a:tr h="260056">
                <a:tc>
                  <a:txBody>
                    <a:bodyPr/>
                    <a:lstStyle/>
                    <a:p>
                      <a:r>
                        <a:rPr lang="en-US" sz="1300" dirty="0"/>
                        <a:t>Harley-Davidson Panheads; 1948-1965/M418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0.130498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0.005207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870286"/>
                  </a:ext>
                </a:extLst>
              </a:tr>
              <a:tr h="3208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Writing and Defending a Thesis or Dissertation...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0.048512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0.008456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/>
                        <a:t>1387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82921"/>
                  </a:ext>
                </a:extLst>
              </a:tr>
              <a:tr h="276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Chiefs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0.049294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381778"/>
                  </a:ext>
                </a:extLst>
              </a:tr>
              <a:tr h="302003">
                <a:tc>
                  <a:txBody>
                    <a:bodyPr/>
                    <a:lstStyle/>
                    <a:p>
                      <a:r>
                        <a:rPr lang="en-US" sz="1300" dirty="0"/>
                        <a:t>Everyone's Way of the 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0.068088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0.012235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020667"/>
                  </a:ext>
                </a:extLst>
              </a:tr>
              <a:tr h="320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Making Their Own Way: Narratives for Transform...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0.091476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0.010288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354173"/>
                  </a:ext>
                </a:extLst>
              </a:tr>
              <a:tr h="321487">
                <a:tc>
                  <a:txBody>
                    <a:bodyPr/>
                    <a:lstStyle/>
                    <a:p>
                      <a:r>
                        <a:rPr lang="en-US" sz="1300" dirty="0"/>
                        <a:t>A Touch Of Tranquility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Music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227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0.097848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0.004906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085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Fodor's Australia 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420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0.036164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0.004838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1921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50635"/>
                  </a:ext>
                </a:extLst>
              </a:tr>
              <a:tr h="321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Fleeting Footsteps: Tracing the Conception of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121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0.088817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0.007604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60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870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65CD1B5-63E1-4848-8BC4-BD6DA2D0C901}"/>
              </a:ext>
            </a:extLst>
          </p:cNvPr>
          <p:cNvSpPr txBox="1"/>
          <p:nvPr/>
        </p:nvSpPr>
        <p:spPr>
          <a:xfrm>
            <a:off x="3639081" y="64367"/>
            <a:ext cx="49138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Ребра-мосты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8076FD">
                    <a:lumMod val="7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(роль ребра в связности графа)</a:t>
            </a: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BD74F43C-DDF1-4C69-8F9C-42FFFED04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48648"/>
              </p:ext>
            </p:extLst>
          </p:nvPr>
        </p:nvGraphicFramePr>
        <p:xfrm>
          <a:off x="335970" y="1940734"/>
          <a:ext cx="11520052" cy="3899401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220085">
                  <a:extLst>
                    <a:ext uri="{9D8B030D-6E8A-4147-A177-3AD203B41FA5}">
                      <a16:colId xmlns:a16="http://schemas.microsoft.com/office/drawing/2014/main" val="2449413936"/>
                    </a:ext>
                  </a:extLst>
                </a:gridCol>
                <a:gridCol w="805305">
                  <a:extLst>
                    <a:ext uri="{9D8B030D-6E8A-4147-A177-3AD203B41FA5}">
                      <a16:colId xmlns:a16="http://schemas.microsoft.com/office/drawing/2014/main" val="2788100664"/>
                    </a:ext>
                  </a:extLst>
                </a:gridCol>
                <a:gridCol w="931491">
                  <a:extLst>
                    <a:ext uri="{9D8B030D-6E8A-4147-A177-3AD203B41FA5}">
                      <a16:colId xmlns:a16="http://schemas.microsoft.com/office/drawing/2014/main" val="1099082333"/>
                    </a:ext>
                  </a:extLst>
                </a:gridCol>
                <a:gridCol w="3760151">
                  <a:extLst>
                    <a:ext uri="{9D8B030D-6E8A-4147-A177-3AD203B41FA5}">
                      <a16:colId xmlns:a16="http://schemas.microsoft.com/office/drawing/2014/main" val="34796433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56364678"/>
                    </a:ext>
                  </a:extLst>
                </a:gridCol>
                <a:gridCol w="880216">
                  <a:extLst>
                    <a:ext uri="{9D8B030D-6E8A-4147-A177-3AD203B41FA5}">
                      <a16:colId xmlns:a16="http://schemas.microsoft.com/office/drawing/2014/main" val="3400332522"/>
                    </a:ext>
                  </a:extLst>
                </a:gridCol>
                <a:gridCol w="1008404">
                  <a:extLst>
                    <a:ext uri="{9D8B030D-6E8A-4147-A177-3AD203B41FA5}">
                      <a16:colId xmlns:a16="http://schemas.microsoft.com/office/drawing/2014/main" val="3386989502"/>
                    </a:ext>
                  </a:extLst>
                </a:gridCol>
              </a:tblGrid>
              <a:tr h="213078">
                <a:tc>
                  <a:txBody>
                    <a:bodyPr/>
                    <a:lstStyle/>
                    <a:p>
                      <a:r>
                        <a:rPr lang="ru-RU" sz="1300" dirty="0"/>
                        <a:t>Название 1 товара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Группа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Рейтинг продаж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Название 2 товара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Группа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Рейтинг продаж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Показатель </a:t>
                      </a:r>
                      <a:r>
                        <a:rPr lang="en-US" sz="1300" dirty="0"/>
                        <a:t>“</a:t>
                      </a:r>
                      <a:r>
                        <a:rPr lang="ru-RU" sz="1300" dirty="0"/>
                        <a:t>моста</a:t>
                      </a:r>
                      <a:r>
                        <a:rPr lang="en-US" sz="1300" dirty="0"/>
                        <a:t>” </a:t>
                      </a:r>
                      <a:endParaRPr lang="ru-RU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143837"/>
                  </a:ext>
                </a:extLst>
              </a:tr>
              <a:tr h="393699">
                <a:tc>
                  <a:txBody>
                    <a:bodyPr/>
                    <a:lstStyle/>
                    <a:p>
                      <a:r>
                        <a:rPr lang="en-US" sz="1300" dirty="0"/>
                        <a:t>The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Music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197443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The Narcissistic Family : Diagnosis and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9727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0.018391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83466"/>
                  </a:ext>
                </a:extLst>
              </a:tr>
              <a:tr h="348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The Narcissistic Family </a:t>
                      </a:r>
                      <a:r>
                        <a:rPr lang="ru-RU" sz="1300" dirty="0"/>
                        <a:t>…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9727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A Fourth Treasury of Knitting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91126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/>
                        <a:t>0.014018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80336"/>
                  </a:ext>
                </a:extLst>
              </a:tr>
              <a:tr h="3607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Museum Governance: Mission Ethics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420082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Beowulf: An Imitative Translation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620890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0.013725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524269"/>
                  </a:ext>
                </a:extLst>
              </a:tr>
              <a:tr h="299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The Narcissistic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9727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I Was Aboard a </a:t>
                      </a:r>
                      <a:r>
                        <a:rPr lang="en-US" sz="1300" dirty="0" err="1"/>
                        <a:t>Ufo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2447342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0.010817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18541"/>
                  </a:ext>
                </a:extLst>
              </a:tr>
              <a:tr h="2154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Chiefs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319674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Where There Is No Vet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672391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0.010241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19288"/>
                  </a:ext>
                </a:extLst>
              </a:tr>
              <a:tr h="369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Where There Is No Vet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672391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Pisces (Reach Your Potential Series)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1938700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0.010143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004751"/>
                  </a:ext>
                </a:extLst>
              </a:tr>
              <a:tr h="357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More Than You Think You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Music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If I Were a Man; I'd Marry Me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807679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0.009946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134445"/>
                  </a:ext>
                </a:extLst>
              </a:tr>
              <a:tr h="381045">
                <a:tc>
                  <a:txBody>
                    <a:bodyPr/>
                    <a:lstStyle/>
                    <a:p>
                      <a:r>
                        <a:rPr lang="en-US" sz="1300" dirty="0"/>
                        <a:t>I Was Aboard a </a:t>
                      </a:r>
                      <a:r>
                        <a:rPr lang="en-US" sz="1300" dirty="0" err="1"/>
                        <a:t>Ufo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2447342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The Model Engineer's Handbook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655243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0.008846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800559"/>
                  </a:ext>
                </a:extLst>
              </a:tr>
              <a:tr h="288536">
                <a:tc>
                  <a:txBody>
                    <a:bodyPr/>
                    <a:lstStyle/>
                    <a:p>
                      <a:r>
                        <a:rPr lang="en-US" sz="1300" dirty="0"/>
                        <a:t> If I Were a Man; I'd Marry Me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807679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The Yellow Fountain (La Fuente Amarilla)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DVD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39867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0.008814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870286"/>
                  </a:ext>
                </a:extLst>
              </a:tr>
              <a:tr h="321487">
                <a:tc>
                  <a:txBody>
                    <a:bodyPr/>
                    <a:lstStyle/>
                    <a:p>
                      <a:r>
                        <a:rPr lang="en-US" sz="1300" dirty="0"/>
                        <a:t> If I Were a Man; …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807679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Where There Is No Vet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Book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672391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0.008376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085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607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Таблица 13">
            <a:extLst>
              <a:ext uri="{FF2B5EF4-FFF2-40B4-BE49-F238E27FC236}">
                <a16:creationId xmlns:a16="http://schemas.microsoft.com/office/drawing/2014/main" id="{299F7DBD-CD08-4217-970A-F1CD58B45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23717"/>
              </p:ext>
            </p:extLst>
          </p:nvPr>
        </p:nvGraphicFramePr>
        <p:xfrm>
          <a:off x="492153" y="1138557"/>
          <a:ext cx="10939246" cy="5471854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3917661">
                  <a:extLst>
                    <a:ext uri="{9D8B030D-6E8A-4147-A177-3AD203B41FA5}">
                      <a16:colId xmlns:a16="http://schemas.microsoft.com/office/drawing/2014/main" val="891134559"/>
                    </a:ext>
                  </a:extLst>
                </a:gridCol>
                <a:gridCol w="7021585">
                  <a:extLst>
                    <a:ext uri="{9D8B030D-6E8A-4147-A177-3AD203B41FA5}">
                      <a16:colId xmlns:a16="http://schemas.microsoft.com/office/drawing/2014/main" val="1395526651"/>
                    </a:ext>
                  </a:extLst>
                </a:gridCol>
              </a:tblGrid>
              <a:tr h="1189196">
                <a:tc>
                  <a:txBody>
                    <a:bodyPr/>
                    <a:lstStyle/>
                    <a:p>
                      <a:r>
                        <a:rPr lang="ru-RU" sz="2000" dirty="0"/>
                        <a:t>Топ среди вершин-мостов, но отсутствие в других топах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Товары “невидимы”, но важны, их следует развивать, например, давать дополнительное продвижение за счёт рекомендаций таких товаров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703038"/>
                  </a:ext>
                </a:extLst>
              </a:tr>
              <a:tr h="1189196">
                <a:tc>
                  <a:txBody>
                    <a:bodyPr/>
                    <a:lstStyle/>
                    <a:p>
                      <a:r>
                        <a:rPr lang="ru-RU" sz="2000" dirty="0"/>
                        <a:t>Топ по входящей степени и центральности по собственному вектору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Их часто покупают вместе с другими влиятельными товарами. Можно строить на основе этих товаров рекомендации, они являются хорошим дополнением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27802"/>
                  </a:ext>
                </a:extLst>
              </a:tr>
              <a:tr h="1071829">
                <a:tc>
                  <a:txBody>
                    <a:bodyPr/>
                    <a:lstStyle/>
                    <a:p>
                      <a:r>
                        <a:rPr lang="ru-RU" sz="2000" dirty="0"/>
                        <a:t>Товары из одного сообщества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Стоит рекомендовать товары из одного сообщества, возможно, составлять наборы или делать перекрестные скидки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743948"/>
                  </a:ext>
                </a:extLst>
              </a:tr>
              <a:tr h="1189196">
                <a:tc>
                  <a:txBody>
                    <a:bodyPr/>
                    <a:lstStyle/>
                    <a:p>
                      <a:r>
                        <a:rPr lang="ru-RU" sz="2000" dirty="0"/>
                        <a:t>Топ среди ребер-мостов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Это очень важные связи, без них можно потерять связь между кластерами товаров. Следует рекомендовать товары-связки вместе, делать готовые наборы или скидки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93038"/>
                  </a:ext>
                </a:extLst>
              </a:tr>
              <a:tr h="832437">
                <a:tc>
                  <a:txBody>
                    <a:bodyPr/>
                    <a:lstStyle/>
                    <a:p>
                      <a:r>
                        <a:rPr lang="ru-RU" sz="2000" dirty="0" err="1"/>
                        <a:t>Виральные</a:t>
                      </a:r>
                      <a:r>
                        <a:rPr lang="ru-RU" sz="2000" dirty="0"/>
                        <a:t> товары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Самые главные товары, на них стоит строить маркетинг, максимально продвигать их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41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C8FB31A-39A9-4C81-83E2-DD2F64B23C42}"/>
              </a:ext>
            </a:extLst>
          </p:cNvPr>
          <p:cNvSpPr txBox="1"/>
          <p:nvPr/>
        </p:nvSpPr>
        <p:spPr>
          <a:xfrm>
            <a:off x="4632121" y="247589"/>
            <a:ext cx="29277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3231328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33A0F-FF93-C607-E420-E41DA352A516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3686476" y="2077397"/>
            <a:ext cx="7168298" cy="2031369"/>
          </a:xfrm>
        </p:spPr>
        <p:txBody>
          <a:bodyPr anchor="b">
            <a:normAutofit/>
          </a:bodyPr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FC739222-4FF2-27EC-88BA-4EB9B7AB8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5210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578c4c7-e13b-4bc2-a48b-0d493a2b6cfe.pptx"/>
</p:tagLst>
</file>

<file path=ppt/theme/theme1.xml><?xml version="1.0" encoding="utf-8"?>
<a:theme xmlns:a="http://schemas.openxmlformats.org/drawingml/2006/main" name="Custom">
  <a:themeElements>
    <a:clrScheme name="自定义 11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8076FD"/>
      </a:accent1>
      <a:accent2>
        <a:srgbClr val="232328"/>
      </a:accent2>
      <a:accent3>
        <a:srgbClr val="4EA6DC"/>
      </a:accent3>
      <a:accent4>
        <a:srgbClr val="4775E7"/>
      </a:accent4>
      <a:accent5>
        <a:srgbClr val="AC6AE8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2">
      <a:majorFont>
        <a:latin typeface="Meiryo"/>
        <a:ea typeface=""/>
        <a:cs typeface=""/>
      </a:majorFont>
      <a:minorFont>
        <a:latin typeface="Franklin Gothic Book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">
  <a:themeElements>
    <a:clrScheme name="自定义 11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8076FD"/>
      </a:accent1>
      <a:accent2>
        <a:srgbClr val="232328"/>
      </a:accent2>
      <a:accent3>
        <a:srgbClr val="4EA6DC"/>
      </a:accent3>
      <a:accent4>
        <a:srgbClr val="4775E7"/>
      </a:accent4>
      <a:accent5>
        <a:srgbClr val="AC6AE8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2">
      <a:majorFont>
        <a:latin typeface="Meiryo"/>
        <a:ea typeface=""/>
        <a:cs typeface=""/>
      </a:majorFont>
      <a:minorFont>
        <a:latin typeface="Franklin Gothic Book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</TotalTime>
  <Words>1454</Words>
  <Application>Microsoft Office PowerPoint</Application>
  <PresentationFormat>Широкоэкранный</PresentationFormat>
  <Paragraphs>480</Paragraphs>
  <Slides>21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21</vt:i4>
      </vt:variant>
    </vt:vector>
  </HeadingPairs>
  <TitlesOfParts>
    <vt:vector size="35" baseType="lpstr">
      <vt:lpstr>Meiryo</vt:lpstr>
      <vt:lpstr>Arial</vt:lpstr>
      <vt:lpstr>Arial Black</vt:lpstr>
      <vt:lpstr>BIZ UDPGothic</vt:lpstr>
      <vt:lpstr>Calibri</vt:lpstr>
      <vt:lpstr>Cambria Math</vt:lpstr>
      <vt:lpstr>DeepSeek-CJK-patch</vt:lpstr>
      <vt:lpstr>Franklin Gothic Book</vt:lpstr>
      <vt:lpstr>Liberation Sans</vt:lpstr>
      <vt:lpstr>semi bold black</vt:lpstr>
      <vt:lpstr>Wingdings</vt:lpstr>
      <vt:lpstr>Custom</vt:lpstr>
      <vt:lpstr>Office Theme</vt:lpstr>
      <vt:lpstr>1_Custom</vt:lpstr>
      <vt:lpstr>Проектная работа  “Эффект бабочки: как микропокупки запускают макротренды”</vt:lpstr>
      <vt:lpstr>Презентация PowerPoint</vt:lpstr>
      <vt:lpstr>Презентация PowerPoint</vt:lpstr>
      <vt:lpstr>Презентация PowerPoint</vt:lpstr>
      <vt:lpstr>Презентация PowerPoint</vt:lpstr>
      <vt:lpstr>Анализ + Визуализация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Кластеризация (Количество сообществ: 24717, наибольшее сообщество имеет 1180 вершин)</vt:lpstr>
      <vt:lpstr>Ещё 2 сообщества по количеству товаров</vt:lpstr>
      <vt:lpstr>Презентация PowerPoint</vt:lpstr>
      <vt:lpstr>Топ 2 хаба и соединяющие их мосты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</dc:title>
  <dc:creator>Вячеслав Довганюк</dc:creator>
  <cp:lastModifiedBy>Вячеслав Довганюк</cp:lastModifiedBy>
  <cp:revision>50</cp:revision>
  <dcterms:created xsi:type="dcterms:W3CDTF">2025-04-14T18:09:20Z</dcterms:created>
  <dcterms:modified xsi:type="dcterms:W3CDTF">2026-06-22T19:04:52Z</dcterms:modified>
</cp:coreProperties>
</file>